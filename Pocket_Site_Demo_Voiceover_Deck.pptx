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0:00–0:08
Pocket Site is a temporary, local-first catalog for a physical garage sale. The viewer should immediately understand the curbside use case: a sign, a QR code, and a quick decision about whether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0:08–0:20
A garage-sale sign tells you where a sale is, but not what is actually there. Marketplace sites solve discovery; Pocket Site helps people browse a temporary physical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0:20–0:28
The sharper product image is drive-by triage. Someone passes a suburban garage sale, scans the sign, and decides in seconds whether it is worth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0:20–0:45
Tap Load Demo Sale and confirm. Briefly show the 10 believable items, categories, prices, and mixed availability. Point out sale notes, optional contact handoff, and the Looking For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0:45–1:15
Tap Open Sale. Allow notifications if prompted. Show the prominent Open state and persistent “Pocket Site sale is live” notification. Show the PocketWiFiSale join QR, catalog QR/link, and copyable physical-sign instructions. Explain that visitors join the designated sale Wi-Fi, then open the local catalog. No app or internet account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1:15–1:50
On a second phone already connected to PocketWiFiSale, scan or open the catalog. Show the Read-only visitor catalog label. Browse items and point out that available items appear before visually distinct sold items. Show notes, contact handoff, categories, and Looking For content. On the host phone, mark one available item sold. Let the visitor page auto-refresh within eight seconds and show the updated sold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1:50–2:15
Briefly switch the host to another app and point out the ongoing notification. Confirm the visitor catalog remains available. Return to Pocket Site and tap Close Sale. Refresh the visitor phone and explain that local serving and its notification stop when the sale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2:15–2:30
Tap Delete All Sale Data and confirm. Show the empty Draft state. Close with: “Pocket Site is local-first, private, and temporary by design—not another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reference
Use this slide as a recording checklist. The video should feel like a direct product demo, not a slide presentation. Keep the camera on the working app as much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final framing
This project demonstrates the power of Codex as a builder’s multiplier: a bounded real-world Android app created by someone who is not an Android specialist, with human product judgment preserving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EC"/>
        </a:solidFill>
      </p:bgPr>
    </p:bg>
    <p:spTree>
      <p:nvGrpSpPr>
        <p:cNvPr id="1" name=""/>
        <p:cNvGrpSpPr/>
        <p:nvPr/>
      </p:nvGrpSpPr>
      <p:grpSpPr>
        <a:xfrm>
          <a:off x="0" y="0"/>
          <a:ext cx="0" cy="0"/>
          <a:chOff x="0" y="0"/>
          <a:chExt cx="0" cy="0"/>
        </a:xfrm>
      </p:grpSpPr>
      <p:pic>
        <p:nvPicPr>
          <p:cNvPr id="2" name="Image 0" descr="/mnt/data/a_bright_clean_semi_realistic_illustrated_suburb.png">    </p:cNvPr>
          <p:cNvPicPr>
            <a:picLocks noChangeAspect="1"/>
          </p:cNvPicPr>
          <p:nvPr/>
        </p:nvPicPr>
        <p:blipFill>
          <a:blip r:embed="rId1"/>
          <a:stretch>
            <a:fillRect/>
          </a:stretch>
        </p:blipFill>
        <p:spPr>
          <a:xfrm>
            <a:off x="3087" y="0"/>
            <a:ext cx="12185522" cy="6858000"/>
          </a:xfrm>
          <a:prstGeom prst="rect">
            <a:avLst/>
          </a:prstGeom>
        </p:spPr>
      </p:pic>
      <p:sp>
        <p:nvSpPr>
          <p:cNvPr id="3" name="Text 0"/>
          <p:cNvSpPr/>
          <p:nvPr/>
        </p:nvSpPr>
        <p:spPr>
          <a:xfrm>
            <a:off x="658368" y="566928"/>
            <a:ext cx="5303520" cy="685800"/>
          </a:xfrm>
          <a:prstGeom prst="rect">
            <a:avLst/>
          </a:prstGeom>
          <a:noFill/>
          <a:ln/>
        </p:spPr>
        <p:txBody>
          <a:bodyPr wrap="square" lIns="0" tIns="0" rIns="0" bIns="0" rtlCol="0" anchor="ctr">
            <a:normAutofit/>
          </a:bodyPr>
          <a:lstStyle/>
          <a:p>
            <a:pPr indent="0" marL="0">
              <a:buNone/>
            </a:pPr>
            <a:r>
              <a:rPr lang="en-US" sz="4200" b="1" dirty="0">
                <a:solidFill>
                  <a:srgbClr val="14365D"/>
                </a:solidFill>
                <a:latin typeface="Aptos Display" pitchFamily="34" charset="0"/>
                <a:ea typeface="Aptos Display" pitchFamily="34" charset="-122"/>
                <a:cs typeface="Aptos Display" pitchFamily="34" charset="-120"/>
              </a:rPr>
              <a:t>Pocket Site</a:t>
            </a:r>
            <a:endParaRPr lang="en-US" sz="4200" dirty="0"/>
          </a:p>
        </p:txBody>
      </p:sp>
      <p:sp>
        <p:nvSpPr>
          <p:cNvPr id="4" name="Text 1"/>
          <p:cNvSpPr/>
          <p:nvPr/>
        </p:nvSpPr>
        <p:spPr>
          <a:xfrm>
            <a:off x="685800" y="1298448"/>
            <a:ext cx="5212080" cy="320040"/>
          </a:xfrm>
          <a:prstGeom prst="rect">
            <a:avLst/>
          </a:prstGeom>
          <a:noFill/>
          <a:ln/>
        </p:spPr>
        <p:txBody>
          <a:bodyPr wrap="square" lIns="0" tIns="0" rIns="0" bIns="0" rtlCol="0" anchor="ctr">
            <a:normAutofit/>
          </a:bodyPr>
          <a:lstStyle/>
          <a:p>
            <a:pPr indent="0" marL="0">
              <a:buNone/>
            </a:pPr>
            <a:r>
              <a:rPr lang="en-US" sz="1800" dirty="0">
                <a:solidFill>
                  <a:srgbClr val="21242A"/>
                </a:solidFill>
              </a:rPr>
              <a:t>A temporary catalog for physical garage sales</a:t>
            </a:r>
            <a:endParaRPr lang="en-US" sz="1800" dirty="0"/>
          </a:p>
        </p:txBody>
      </p:sp>
      <p:sp>
        <p:nvSpPr>
          <p:cNvPr id="5" name="Text 2"/>
          <p:cNvSpPr/>
          <p:nvPr/>
        </p:nvSpPr>
        <p:spPr>
          <a:xfrm>
            <a:off x="713232" y="5468112"/>
            <a:ext cx="5212080" cy="438912"/>
          </a:xfrm>
          <a:prstGeom prst="rect">
            <a:avLst/>
          </a:prstGeom>
          <a:solidFill>
            <a:srgbClr val="FFFFFF">
              <a:alpha val="95000"/>
            </a:srgbClr>
          </a:solidFill>
          <a:ln/>
        </p:spPr>
        <p:txBody>
          <a:bodyPr wrap="square" lIns="508" tIns="508" rIns="508" bIns="508" rtlCol="0" anchor="ctr">
            <a:normAutofit/>
          </a:bodyPr>
          <a:lstStyle/>
          <a:p>
            <a:pPr indent="0" marL="0">
              <a:buNone/>
            </a:pPr>
            <a:r>
              <a:rPr lang="en-US" sz="1850" b="1" dirty="0">
                <a:solidFill>
                  <a:srgbClr val="14365D"/>
                </a:solidFill>
              </a:rPr>
              <a:t>Scan the sign. Browse the sale. Stop when it matters.</a:t>
            </a:r>
            <a:endParaRPr lang="en-US" sz="1850" dirty="0"/>
          </a:p>
        </p:txBody>
      </p:sp>
      <p:sp>
        <p:nvSpPr>
          <p:cNvPr id="6" name="Text 3"/>
          <p:cNvSpPr/>
          <p:nvPr/>
        </p:nvSpPr>
        <p:spPr>
          <a:xfrm>
            <a:off x="713232" y="5989320"/>
            <a:ext cx="2743200" cy="201168"/>
          </a:xfrm>
          <a:prstGeom prst="rect">
            <a:avLst/>
          </a:prstGeom>
          <a:noFill/>
          <a:ln/>
        </p:spPr>
        <p:txBody>
          <a:bodyPr wrap="square" lIns="0" tIns="0" rIns="0" bIns="0" rtlCol="0" anchor="ctr"/>
          <a:lstStyle/>
          <a:p>
            <a:pPr indent="0" marL="0">
              <a:buNone/>
            </a:pPr>
            <a:r>
              <a:rPr lang="en-US" sz="1050" dirty="0">
                <a:solidFill>
                  <a:srgbClr val="5B6470"/>
                </a:solidFill>
              </a:rPr>
              <a:t>Voiceover-ready demo deck · ~2:30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0:00–0:20</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The problem: signs reveal location, not inventory</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a_bright_clean_semi_realistic_illustrated_suburb.png">    </p:cNvPr>
          <p:cNvPicPr>
            <a:picLocks noChangeAspect="1"/>
          </p:cNvPicPr>
          <p:nvPr/>
        </p:nvPicPr>
        <p:blipFill>
          <a:blip r:embed="rId1"/>
          <a:stretch>
            <a:fillRect/>
          </a:stretch>
        </p:blipFill>
        <p:spPr>
          <a:xfrm>
            <a:off x="6629400" y="1853766"/>
            <a:ext cx="5029200" cy="2830429"/>
          </a:xfrm>
          <a:prstGeom prst="rect">
            <a:avLst/>
          </a:prstGeom>
        </p:spPr>
      </p:pic>
      <p:sp>
        <p:nvSpPr>
          <p:cNvPr id="6" name="Text 3"/>
          <p:cNvSpPr/>
          <p:nvPr/>
        </p:nvSpPr>
        <p:spPr>
          <a:xfrm>
            <a:off x="566928" y="1600200"/>
            <a:ext cx="5212080" cy="301752"/>
          </a:xfrm>
          <a:prstGeom prst="rect">
            <a:avLst/>
          </a:prstGeom>
          <a:noFill/>
          <a:ln/>
        </p:spPr>
        <p:txBody>
          <a:bodyPr wrap="square" lIns="0" tIns="0" rIns="0" bIns="0" rtlCol="0" anchor="ctr"/>
          <a:lstStyle/>
          <a:p>
            <a:pPr indent="0" marL="0">
              <a:buNone/>
            </a:pPr>
            <a:r>
              <a:rPr lang="en-US" sz="1800" b="1" dirty="0">
                <a:solidFill>
                  <a:srgbClr val="21242A"/>
                </a:solidFill>
              </a:rPr>
              <a:t>A typical garage-sale sign answers only one question:</a:t>
            </a:r>
            <a:endParaRPr lang="en-US" sz="1800" dirty="0"/>
          </a:p>
        </p:txBody>
      </p:sp>
      <p:sp>
        <p:nvSpPr>
          <p:cNvPr id="7" name="Text 4"/>
          <p:cNvSpPr/>
          <p:nvPr/>
        </p:nvSpPr>
        <p:spPr>
          <a:xfrm>
            <a:off x="566928" y="2057400"/>
            <a:ext cx="2011680" cy="502920"/>
          </a:xfrm>
          <a:prstGeom prst="rect">
            <a:avLst/>
          </a:prstGeom>
          <a:noFill/>
          <a:ln/>
        </p:spPr>
        <p:txBody>
          <a:bodyPr wrap="square" lIns="0" tIns="0" rIns="0" bIns="0" rtlCol="0" anchor="ctr"/>
          <a:lstStyle/>
          <a:p>
            <a:pPr indent="0" marL="0">
              <a:buNone/>
            </a:pPr>
            <a:r>
              <a:rPr lang="en-US" sz="3400" b="1" dirty="0">
                <a:solidFill>
                  <a:srgbClr val="14365D"/>
                </a:solidFill>
              </a:rPr>
              <a:t>Where?</a:t>
            </a:r>
            <a:endParaRPr lang="en-US" sz="3400" dirty="0"/>
          </a:p>
        </p:txBody>
      </p:sp>
      <p:sp>
        <p:nvSpPr>
          <p:cNvPr id="8" name="Text 5"/>
          <p:cNvSpPr/>
          <p:nvPr/>
        </p:nvSpPr>
        <p:spPr>
          <a:xfrm>
            <a:off x="566928" y="2834640"/>
            <a:ext cx="5440680" cy="329184"/>
          </a:xfrm>
          <a:prstGeom prst="rect">
            <a:avLst/>
          </a:prstGeom>
          <a:noFill/>
          <a:ln/>
        </p:spPr>
        <p:txBody>
          <a:bodyPr wrap="square" lIns="0" tIns="0" rIns="0" bIns="0" rtlCol="0" anchor="ctr">
            <a:normAutofit/>
          </a:bodyPr>
          <a:lstStyle/>
          <a:p>
            <a:pPr indent="0" marL="0">
              <a:buNone/>
            </a:pPr>
            <a:r>
              <a:rPr lang="en-US" sz="1700" dirty="0">
                <a:solidFill>
                  <a:srgbClr val="21242A"/>
                </a:solidFill>
              </a:rPr>
              <a:t>It does not answer the question passersby actually have:</a:t>
            </a:r>
            <a:endParaRPr lang="en-US" sz="1700" dirty="0"/>
          </a:p>
        </p:txBody>
      </p:sp>
      <p:sp>
        <p:nvSpPr>
          <p:cNvPr id="9" name="Text 6"/>
          <p:cNvSpPr/>
          <p:nvPr/>
        </p:nvSpPr>
        <p:spPr>
          <a:xfrm>
            <a:off x="566928" y="3273552"/>
            <a:ext cx="5486400" cy="566928"/>
          </a:xfrm>
          <a:prstGeom prst="rect">
            <a:avLst/>
          </a:prstGeom>
          <a:noFill/>
          <a:ln/>
        </p:spPr>
        <p:txBody>
          <a:bodyPr wrap="square" lIns="0" tIns="0" rIns="0" bIns="0" rtlCol="0" anchor="ctr">
            <a:normAutofit/>
          </a:bodyPr>
          <a:lstStyle/>
          <a:p>
            <a:pPr indent="0" marL="0">
              <a:buNone/>
            </a:pPr>
            <a:r>
              <a:rPr lang="en-US" sz="2500" b="1" dirty="0">
                <a:solidFill>
                  <a:srgbClr val="C74747"/>
                </a:solidFill>
              </a:rPr>
              <a:t>Is there anything here worth stopping for?</a:t>
            </a:r>
            <a:endParaRPr lang="en-US" sz="2500" dirty="0"/>
          </a:p>
        </p:txBody>
      </p:sp>
      <p:sp>
        <p:nvSpPr>
          <p:cNvPr id="10" name="Text 7"/>
          <p:cNvSpPr/>
          <p:nvPr/>
        </p:nvSpPr>
        <p:spPr>
          <a:xfrm>
            <a:off x="566928" y="4681728"/>
            <a:ext cx="5440680" cy="594360"/>
          </a:xfrm>
          <a:prstGeom prst="rect">
            <a:avLst/>
          </a:prstGeom>
          <a:solidFill>
            <a:srgbClr val="FFFFFF"/>
          </a:solidFill>
          <a:ln/>
        </p:spPr>
        <p:txBody>
          <a:bodyPr wrap="square" lIns="381" tIns="381" rIns="381" bIns="381" rtlCol="0" anchor="ctr">
            <a:normAutofit/>
          </a:bodyPr>
          <a:lstStyle/>
          <a:p>
            <a:pPr indent="0" marL="0">
              <a:buNone/>
            </a:pPr>
            <a:r>
              <a:rPr lang="en-US" sz="1800" dirty="0">
                <a:solidFill>
                  <a:srgbClr val="21242A"/>
                </a:solidFill>
              </a:rPr>
              <a:t>Marketplace sites solve discovery. Pocket Site helps people browse a temporary physical place.</a:t>
            </a:r>
            <a:endParaRPr lang="en-US" sz="1800" dirty="0"/>
          </a:p>
        </p:txBody>
      </p:sp>
      <p:sp>
        <p:nvSpPr>
          <p:cNvPr id="11" name="Text 8"/>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2" name="Text 9"/>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CORE USE CASE</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The idea: drive-by triage</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preview_and_shop_with_pocket_site.png">    </p:cNvPr>
          <p:cNvPicPr>
            <a:picLocks noChangeAspect="1"/>
          </p:cNvPicPr>
          <p:nvPr/>
        </p:nvPicPr>
        <p:blipFill>
          <a:blip r:embed="rId1"/>
          <a:stretch>
            <a:fillRect/>
          </a:stretch>
        </p:blipFill>
        <p:spPr>
          <a:xfrm>
            <a:off x="1773182" y="1572768"/>
            <a:ext cx="2872725" cy="4059936"/>
          </a:xfrm>
          <a:prstGeom prst="rect">
            <a:avLst/>
          </a:prstGeom>
        </p:spPr>
      </p:pic>
      <p:sp>
        <p:nvSpPr>
          <p:cNvPr id="6" name="Text 3"/>
          <p:cNvSpPr/>
          <p:nvPr/>
        </p:nvSpPr>
        <p:spPr>
          <a:xfrm>
            <a:off x="6446520" y="1691640"/>
            <a:ext cx="4800600" cy="548640"/>
          </a:xfrm>
          <a:prstGeom prst="rect">
            <a:avLst/>
          </a:prstGeom>
          <a:noFill/>
          <a:ln/>
        </p:spPr>
        <p:txBody>
          <a:bodyPr wrap="square" lIns="0" tIns="0" rIns="0" bIns="0" rtlCol="0" anchor="ctr">
            <a:normAutofit/>
          </a:bodyPr>
          <a:lstStyle/>
          <a:p>
            <a:pPr indent="0" marL="0">
              <a:buNone/>
            </a:pPr>
            <a:r>
              <a:rPr lang="en-US" sz="2900" b="1" dirty="0">
                <a:solidFill>
                  <a:srgbClr val="14365D"/>
                </a:solidFill>
              </a:rPr>
              <a:t>Scan once. Decide in seconds.</a:t>
            </a:r>
            <a:endParaRPr lang="en-US" sz="2900" dirty="0"/>
          </a:p>
        </p:txBody>
      </p:sp>
      <p:sp>
        <p:nvSpPr>
          <p:cNvPr id="7" name="Text 4"/>
          <p:cNvSpPr/>
          <p:nvPr/>
        </p:nvSpPr>
        <p:spPr>
          <a:xfrm>
            <a:off x="6492240" y="2514600"/>
            <a:ext cx="4892040" cy="1719072"/>
          </a:xfrm>
          <a:prstGeom prst="rect">
            <a:avLst/>
          </a:prstGeom>
          <a:noFill/>
          <a:ln/>
        </p:spPr>
        <p:txBody>
          <a:bodyPr wrap="square" lIns="635" tIns="635" rIns="635" bIns="635" rtlCol="0" anchor="t">
            <a:normAutofit/>
          </a:bodyPr>
          <a:lstStyle/>
          <a:p>
            <a:r>
              <a:rPr lang="en-US" sz="1650" dirty="0">
                <a:solidFill>
                  <a:srgbClr val="21242A"/>
                </a:solidFill>
                <a:latin typeface="Aptos" pitchFamily="34" charset="0"/>
                <a:ea typeface="Aptos" pitchFamily="34" charset="-122"/>
                <a:cs typeface="Aptos" pitchFamily="34" charset="-120"/>
              </a:rPr>
              <a:t>Passerby previews the sale before stopping</a:t>
            </a:r>
            <a:endParaRPr lang="en-US" sz="1650" dirty="0"/>
          </a:p>
          <a:p>
            <a:r>
              <a:rPr lang="en-US" sz="1650" dirty="0">
                <a:solidFill>
                  <a:srgbClr val="21242A"/>
                </a:solidFill>
                <a:latin typeface="Aptos" pitchFamily="34" charset="0"/>
                <a:ea typeface="Aptos" pitchFamily="34" charset="-122"/>
                <a:cs typeface="Aptos" pitchFamily="34" charset="-120"/>
              </a:rPr>
              <a:t>The right buyer stops hard</a:t>
            </a:r>
            <a:endParaRPr lang="en-US" sz="1650" dirty="0"/>
          </a:p>
          <a:p>
            <a:r>
              <a:rPr lang="en-US" sz="1650" dirty="0">
                <a:solidFill>
                  <a:srgbClr val="21242A"/>
                </a:solidFill>
                <a:latin typeface="Aptos" pitchFamily="34" charset="0"/>
                <a:ea typeface="Aptos" pitchFamily="34" charset="-122"/>
                <a:cs typeface="Aptos" pitchFamily="34" charset="-120"/>
              </a:rPr>
              <a:t>The wrong buyer moves on without awkward wandering</a:t>
            </a:r>
            <a:endParaRPr lang="en-US" sz="1650" dirty="0"/>
          </a:p>
          <a:p>
            <a:r>
              <a:rPr lang="en-US" sz="1650" dirty="0">
                <a:solidFill>
                  <a:srgbClr val="21242A"/>
                </a:solidFill>
                <a:latin typeface="Aptos" pitchFamily="34" charset="0"/>
                <a:ea typeface="Aptos" pitchFamily="34" charset="-122"/>
                <a:cs typeface="Aptos" pitchFamily="34" charset="-120"/>
              </a:rPr>
              <a:t>The host controls when the catalog exists</a:t>
            </a:r>
            <a:endParaRPr lang="en-US" sz="1650" dirty="0"/>
          </a:p>
        </p:txBody>
      </p:sp>
      <p:sp>
        <p:nvSpPr>
          <p:cNvPr id="8" name="Text 5"/>
          <p:cNvSpPr/>
          <p:nvPr/>
        </p:nvSpPr>
        <p:spPr>
          <a:xfrm>
            <a:off x="6492240" y="5074920"/>
            <a:ext cx="4480560" cy="384048"/>
          </a:xfrm>
          <a:prstGeom prst="rect">
            <a:avLst/>
          </a:prstGeom>
          <a:noFill/>
          <a:ln/>
        </p:spPr>
        <p:txBody>
          <a:bodyPr wrap="square" lIns="381" tIns="381" rIns="381" bIns="381" rtlCol="0" anchor="ctr">
            <a:normAutofit/>
          </a:bodyPr>
          <a:lstStyle/>
          <a:p>
            <a:pPr indent="0" marL="0">
              <a:buNone/>
            </a:pPr>
            <a:r>
              <a:rPr lang="en-US" sz="1650" b="1" dirty="0">
                <a:solidFill>
                  <a:srgbClr val="2C8A4B"/>
                </a:solidFill>
              </a:rPr>
              <a:t>Not a marketplace. A temporary catalog for a temporary place.</a:t>
            </a:r>
            <a:endParaRPr lang="en-US" sz="1650" dirty="0"/>
          </a:p>
        </p:txBody>
      </p:sp>
      <p:sp>
        <p:nvSpPr>
          <p:cNvPr id="9" name="Text 6"/>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0" name="Text 7"/>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0:20–0:45</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Prepare the sale</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a_clean_high_resolution_product_app_promo_scene.png">    </p:cNvPr>
          <p:cNvPicPr>
            <a:picLocks noChangeAspect="1"/>
          </p:cNvPicPr>
          <p:nvPr/>
        </p:nvPicPr>
        <p:blipFill>
          <a:blip r:embed="rId1"/>
          <a:stretch>
            <a:fillRect/>
          </a:stretch>
        </p:blipFill>
        <p:spPr>
          <a:xfrm>
            <a:off x="6245352" y="1747970"/>
            <a:ext cx="5486400" cy="3087741"/>
          </a:xfrm>
          <a:prstGeom prst="rect">
            <a:avLst/>
          </a:prstGeom>
        </p:spPr>
      </p:pic>
      <p:sp>
        <p:nvSpPr>
          <p:cNvPr id="6" name="Text 3"/>
          <p:cNvSpPr/>
          <p:nvPr/>
        </p:nvSpPr>
        <p:spPr>
          <a:xfrm>
            <a:off x="658368" y="1691640"/>
            <a:ext cx="320040" cy="320040"/>
          </a:xfrm>
          <a:prstGeom prst="rect">
            <a:avLst/>
          </a:prstGeom>
          <a:solidFill>
            <a:srgbClr val="14365D"/>
          </a:solidFill>
          <a:ln/>
        </p:spPr>
        <p:txBody>
          <a:bodyPr wrap="square" lIns="0" tIns="0" rIns="0" bIns="0" rtlCol="0" anchor="ctr">
            <a:normAutofit/>
          </a:bodyPr>
          <a:lstStyle/>
          <a:p>
            <a:pPr algn="ctr" indent="0" marL="0">
              <a:buNone/>
            </a:pPr>
            <a:r>
              <a:rPr lang="en-US" sz="1400" b="1" dirty="0">
                <a:solidFill>
                  <a:srgbClr val="FFFFFF"/>
                </a:solidFill>
              </a:rPr>
              <a:t>1</a:t>
            </a:r>
            <a:endParaRPr lang="en-US" sz="1400" dirty="0"/>
          </a:p>
        </p:txBody>
      </p:sp>
      <p:sp>
        <p:nvSpPr>
          <p:cNvPr id="7" name="Text 4"/>
          <p:cNvSpPr/>
          <p:nvPr/>
        </p:nvSpPr>
        <p:spPr>
          <a:xfrm>
            <a:off x="1097280" y="1682496"/>
            <a:ext cx="4937760" cy="228600"/>
          </a:xfrm>
          <a:prstGeom prst="rect">
            <a:avLst/>
          </a:prstGeom>
          <a:noFill/>
          <a:ln/>
        </p:spPr>
        <p:txBody>
          <a:bodyPr wrap="square" lIns="0" tIns="0" rIns="0" bIns="0" rtlCol="0" anchor="ctr">
            <a:normAutofit/>
          </a:bodyPr>
          <a:lstStyle/>
          <a:p>
            <a:pPr indent="0" marL="0">
              <a:buNone/>
            </a:pPr>
            <a:r>
              <a:rPr lang="en-US" sz="1450" b="1" dirty="0">
                <a:solidFill>
                  <a:srgbClr val="14365D"/>
                </a:solidFill>
              </a:rPr>
              <a:t>Load demo sale</a:t>
            </a:r>
            <a:endParaRPr lang="en-US" sz="1450" dirty="0"/>
          </a:p>
        </p:txBody>
      </p:sp>
      <p:sp>
        <p:nvSpPr>
          <p:cNvPr id="8" name="Text 5"/>
          <p:cNvSpPr/>
          <p:nvPr/>
        </p:nvSpPr>
        <p:spPr>
          <a:xfrm>
            <a:off x="1097280" y="1947672"/>
            <a:ext cx="4937760" cy="402336"/>
          </a:xfrm>
          <a:prstGeom prst="rect">
            <a:avLst/>
          </a:prstGeom>
          <a:noFill/>
          <a:ln/>
        </p:spPr>
        <p:txBody>
          <a:bodyPr wrap="square" lIns="0" tIns="0" rIns="0" bIns="0" rtlCol="0" anchor="ctr">
            <a:normAutofit/>
          </a:bodyPr>
          <a:lstStyle/>
          <a:p>
            <a:pPr indent="0" marL="0">
              <a:buNone/>
            </a:pPr>
            <a:r>
              <a:rPr lang="en-US" sz="1150" dirty="0">
                <a:solidFill>
                  <a:srgbClr val="5B6470"/>
                </a:solidFill>
              </a:rPr>
              <a:t>Populate believable garage-sale items.</a:t>
            </a:r>
            <a:endParaRPr lang="en-US" sz="1150" dirty="0"/>
          </a:p>
        </p:txBody>
      </p:sp>
      <p:sp>
        <p:nvSpPr>
          <p:cNvPr id="9" name="Text 6"/>
          <p:cNvSpPr/>
          <p:nvPr/>
        </p:nvSpPr>
        <p:spPr>
          <a:xfrm>
            <a:off x="658368" y="2587752"/>
            <a:ext cx="320040" cy="320040"/>
          </a:xfrm>
          <a:prstGeom prst="rect">
            <a:avLst/>
          </a:prstGeom>
          <a:solidFill>
            <a:srgbClr val="14365D"/>
          </a:solidFill>
          <a:ln/>
        </p:spPr>
        <p:txBody>
          <a:bodyPr wrap="square" lIns="0" tIns="0" rIns="0" bIns="0" rtlCol="0" anchor="ctr">
            <a:normAutofit/>
          </a:bodyPr>
          <a:lstStyle/>
          <a:p>
            <a:pPr algn="ctr" indent="0" marL="0">
              <a:buNone/>
            </a:pPr>
            <a:r>
              <a:rPr lang="en-US" sz="1400" b="1" dirty="0">
                <a:solidFill>
                  <a:srgbClr val="FFFFFF"/>
                </a:solidFill>
              </a:rPr>
              <a:t>2</a:t>
            </a:r>
            <a:endParaRPr lang="en-US" sz="1400" dirty="0"/>
          </a:p>
        </p:txBody>
      </p:sp>
      <p:sp>
        <p:nvSpPr>
          <p:cNvPr id="10" name="Text 7"/>
          <p:cNvSpPr/>
          <p:nvPr/>
        </p:nvSpPr>
        <p:spPr>
          <a:xfrm>
            <a:off x="1097280" y="2578608"/>
            <a:ext cx="5029200" cy="228600"/>
          </a:xfrm>
          <a:prstGeom prst="rect">
            <a:avLst/>
          </a:prstGeom>
          <a:noFill/>
          <a:ln/>
        </p:spPr>
        <p:txBody>
          <a:bodyPr wrap="square" lIns="0" tIns="0" rIns="0" bIns="0" rtlCol="0" anchor="ctr">
            <a:normAutofit/>
          </a:bodyPr>
          <a:lstStyle/>
          <a:p>
            <a:pPr indent="0" marL="0">
              <a:buNone/>
            </a:pPr>
            <a:r>
              <a:rPr lang="en-US" sz="1450" b="1" dirty="0">
                <a:solidFill>
                  <a:srgbClr val="14365D"/>
                </a:solidFill>
              </a:rPr>
              <a:t>Review catalog</a:t>
            </a:r>
            <a:endParaRPr lang="en-US" sz="1450" dirty="0"/>
          </a:p>
        </p:txBody>
      </p:sp>
      <p:sp>
        <p:nvSpPr>
          <p:cNvPr id="11" name="Text 8"/>
          <p:cNvSpPr/>
          <p:nvPr/>
        </p:nvSpPr>
        <p:spPr>
          <a:xfrm>
            <a:off x="1097280" y="2843784"/>
            <a:ext cx="5029200" cy="402336"/>
          </a:xfrm>
          <a:prstGeom prst="rect">
            <a:avLst/>
          </a:prstGeom>
          <a:noFill/>
          <a:ln/>
        </p:spPr>
        <p:txBody>
          <a:bodyPr wrap="square" lIns="0" tIns="0" rIns="0" bIns="0" rtlCol="0" anchor="ctr">
            <a:normAutofit/>
          </a:bodyPr>
          <a:lstStyle/>
          <a:p>
            <a:pPr indent="0" marL="0">
              <a:buNone/>
            </a:pPr>
            <a:r>
              <a:rPr lang="en-US" sz="1150" dirty="0">
                <a:solidFill>
                  <a:srgbClr val="5B6470"/>
                </a:solidFill>
              </a:rPr>
              <a:t>Show items, prices, categories, and sold/available status.</a:t>
            </a:r>
            <a:endParaRPr lang="en-US" sz="1150" dirty="0"/>
          </a:p>
        </p:txBody>
      </p:sp>
      <p:sp>
        <p:nvSpPr>
          <p:cNvPr id="12" name="Text 9"/>
          <p:cNvSpPr/>
          <p:nvPr/>
        </p:nvSpPr>
        <p:spPr>
          <a:xfrm>
            <a:off x="658368" y="3493008"/>
            <a:ext cx="320040" cy="320040"/>
          </a:xfrm>
          <a:prstGeom prst="rect">
            <a:avLst/>
          </a:prstGeom>
          <a:solidFill>
            <a:srgbClr val="14365D"/>
          </a:solidFill>
          <a:ln/>
        </p:spPr>
        <p:txBody>
          <a:bodyPr wrap="square" lIns="0" tIns="0" rIns="0" bIns="0" rtlCol="0" anchor="ctr">
            <a:normAutofit/>
          </a:bodyPr>
          <a:lstStyle/>
          <a:p>
            <a:pPr algn="ctr" indent="0" marL="0">
              <a:buNone/>
            </a:pPr>
            <a:r>
              <a:rPr lang="en-US" sz="1400" b="1" dirty="0">
                <a:solidFill>
                  <a:srgbClr val="FFFFFF"/>
                </a:solidFill>
              </a:rPr>
              <a:t>3</a:t>
            </a:r>
            <a:endParaRPr lang="en-US" sz="1400" dirty="0"/>
          </a:p>
        </p:txBody>
      </p:sp>
      <p:sp>
        <p:nvSpPr>
          <p:cNvPr id="13" name="Text 10"/>
          <p:cNvSpPr/>
          <p:nvPr/>
        </p:nvSpPr>
        <p:spPr>
          <a:xfrm>
            <a:off x="1097280" y="3483864"/>
            <a:ext cx="5029200" cy="228600"/>
          </a:xfrm>
          <a:prstGeom prst="rect">
            <a:avLst/>
          </a:prstGeom>
          <a:noFill/>
          <a:ln/>
        </p:spPr>
        <p:txBody>
          <a:bodyPr wrap="square" lIns="0" tIns="0" rIns="0" bIns="0" rtlCol="0" anchor="ctr">
            <a:normAutofit/>
          </a:bodyPr>
          <a:lstStyle/>
          <a:p>
            <a:pPr indent="0" marL="0">
              <a:buNone/>
            </a:pPr>
            <a:r>
              <a:rPr lang="en-US" sz="1450" b="1" dirty="0">
                <a:solidFill>
                  <a:srgbClr val="14365D"/>
                </a:solidFill>
              </a:rPr>
              <a:t>Add context</a:t>
            </a:r>
            <a:endParaRPr lang="en-US" sz="1450" dirty="0"/>
          </a:p>
        </p:txBody>
      </p:sp>
      <p:sp>
        <p:nvSpPr>
          <p:cNvPr id="14" name="Text 11"/>
          <p:cNvSpPr/>
          <p:nvPr/>
        </p:nvSpPr>
        <p:spPr>
          <a:xfrm>
            <a:off x="1097280" y="3749040"/>
            <a:ext cx="5029200" cy="402336"/>
          </a:xfrm>
          <a:prstGeom prst="rect">
            <a:avLst/>
          </a:prstGeom>
          <a:noFill/>
          <a:ln/>
        </p:spPr>
        <p:txBody>
          <a:bodyPr wrap="square" lIns="0" tIns="0" rIns="0" bIns="0" rtlCol="0" anchor="ctr">
            <a:normAutofit/>
          </a:bodyPr>
          <a:lstStyle/>
          <a:p>
            <a:pPr indent="0" marL="0">
              <a:buNone/>
            </a:pPr>
            <a:r>
              <a:rPr lang="en-US" sz="1150" dirty="0">
                <a:solidFill>
                  <a:srgbClr val="5B6470"/>
                </a:solidFill>
              </a:rPr>
              <a:t>Sale notes, contact handoff, and Looking For list.</a:t>
            </a:r>
            <a:endParaRPr lang="en-US" sz="1150" dirty="0"/>
          </a:p>
        </p:txBody>
      </p:sp>
      <p:sp>
        <p:nvSpPr>
          <p:cNvPr id="15" name="Text 12"/>
          <p:cNvSpPr/>
          <p:nvPr/>
        </p:nvSpPr>
        <p:spPr>
          <a:xfrm>
            <a:off x="658368" y="4754880"/>
            <a:ext cx="1097280" cy="201168"/>
          </a:xfrm>
          <a:prstGeom prst="rect">
            <a:avLst/>
          </a:prstGeom>
          <a:noFill/>
          <a:ln/>
        </p:spPr>
        <p:txBody>
          <a:bodyPr wrap="square" lIns="0" tIns="0" rIns="0" bIns="0" rtlCol="0" anchor="ctr"/>
          <a:lstStyle/>
          <a:p>
            <a:pPr indent="0" marL="0">
              <a:buNone/>
            </a:pPr>
            <a:r>
              <a:rPr lang="en-US" sz="950" b="1" dirty="0">
                <a:solidFill>
                  <a:srgbClr val="32628D"/>
                </a:solidFill>
              </a:rPr>
              <a:t>Demo line</a:t>
            </a:r>
            <a:endParaRPr lang="en-US" sz="950" dirty="0"/>
          </a:p>
        </p:txBody>
      </p:sp>
      <p:sp>
        <p:nvSpPr>
          <p:cNvPr id="16" name="Text 13"/>
          <p:cNvSpPr/>
          <p:nvPr/>
        </p:nvSpPr>
        <p:spPr>
          <a:xfrm>
            <a:off x="658368" y="5047488"/>
            <a:ext cx="5029200" cy="502920"/>
          </a:xfrm>
          <a:prstGeom prst="rect">
            <a:avLst/>
          </a:prstGeom>
          <a:noFill/>
          <a:ln/>
        </p:spPr>
        <p:txBody>
          <a:bodyPr wrap="square" lIns="0" tIns="0" rIns="0" bIns="0" rtlCol="0" anchor="ctr">
            <a:normAutofit/>
          </a:bodyPr>
          <a:lstStyle/>
          <a:p>
            <a:pPr indent="0" marL="0">
              <a:buNone/>
            </a:pPr>
            <a:r>
              <a:rPr lang="en-US" sz="1800" b="1" i="1" dirty="0">
                <a:solidFill>
                  <a:srgbClr val="14365D"/>
                </a:solidFill>
              </a:rPr>
              <a:t>“Here is a complete sale catalog—not just a list of listings.”</a:t>
            </a:r>
            <a:endParaRPr lang="en-US" sz="1800" dirty="0"/>
          </a:p>
        </p:txBody>
      </p:sp>
      <p:sp>
        <p:nvSpPr>
          <p:cNvPr id="17" name="Text 14"/>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8" name="Text 15"/>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0:45–1:15</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Open and share locally</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a_clean_high_resolution_product_app_promo_scene.png">    </p:cNvPr>
          <p:cNvPicPr>
            <a:picLocks noChangeAspect="1"/>
          </p:cNvPicPr>
          <p:nvPr/>
        </p:nvPicPr>
        <p:blipFill>
          <a:blip r:embed="rId1"/>
          <a:stretch>
            <a:fillRect/>
          </a:stretch>
        </p:blipFill>
        <p:spPr>
          <a:xfrm>
            <a:off x="594360" y="2237283"/>
            <a:ext cx="4754880" cy="2676042"/>
          </a:xfrm>
          <a:prstGeom prst="rect">
            <a:avLst/>
          </a:prstGeom>
        </p:spPr>
      </p:pic>
      <p:sp>
        <p:nvSpPr>
          <p:cNvPr id="6" name="Text 3"/>
          <p:cNvSpPr/>
          <p:nvPr/>
        </p:nvSpPr>
        <p:spPr>
          <a:xfrm>
            <a:off x="5897880" y="1591056"/>
            <a:ext cx="5212080" cy="411480"/>
          </a:xfrm>
          <a:prstGeom prst="rect">
            <a:avLst/>
          </a:prstGeom>
          <a:noFill/>
          <a:ln/>
        </p:spPr>
        <p:txBody>
          <a:bodyPr wrap="square" lIns="0" tIns="0" rIns="0" bIns="0" rtlCol="0" anchor="ctr">
            <a:normAutofit/>
          </a:bodyPr>
          <a:lstStyle/>
          <a:p>
            <a:pPr indent="0" marL="0">
              <a:buNone/>
            </a:pPr>
            <a:r>
              <a:rPr lang="en-US" sz="2600" b="1" dirty="0">
                <a:solidFill>
                  <a:srgbClr val="14365D"/>
                </a:solidFill>
              </a:rPr>
              <a:t>PocketWiFiSale mode</a:t>
            </a:r>
            <a:endParaRPr lang="en-US" sz="2600" dirty="0"/>
          </a:p>
        </p:txBody>
      </p:sp>
      <p:sp>
        <p:nvSpPr>
          <p:cNvPr id="7" name="Text 4"/>
          <p:cNvSpPr/>
          <p:nvPr/>
        </p:nvSpPr>
        <p:spPr>
          <a:xfrm>
            <a:off x="5943600" y="2240280"/>
            <a:ext cx="5394960" cy="1719072"/>
          </a:xfrm>
          <a:prstGeom prst="rect">
            <a:avLst/>
          </a:prstGeom>
          <a:noFill/>
          <a:ln/>
        </p:spPr>
        <p:txBody>
          <a:bodyPr wrap="square" lIns="635" tIns="635" rIns="635" bIns="635" rtlCol="0" anchor="t">
            <a:normAutofit/>
          </a:bodyPr>
          <a:lstStyle/>
          <a:p>
            <a:r>
              <a:rPr lang="en-US" sz="1550" dirty="0">
                <a:solidFill>
                  <a:srgbClr val="21242A"/>
                </a:solidFill>
                <a:latin typeface="Aptos" pitchFamily="34" charset="0"/>
                <a:ea typeface="Aptos" pitchFamily="34" charset="-122"/>
                <a:cs typeface="Aptos" pitchFamily="34" charset="-120"/>
              </a:rPr>
              <a:t>Open sale starts the live local catalog</a:t>
            </a:r>
            <a:endParaRPr lang="en-US" sz="1550" dirty="0"/>
          </a:p>
          <a:p>
            <a:r>
              <a:rPr lang="en-US" sz="1550" dirty="0">
                <a:solidFill>
                  <a:srgbClr val="21242A"/>
                </a:solidFill>
                <a:latin typeface="Aptos" pitchFamily="34" charset="0"/>
                <a:ea typeface="Aptos" pitchFamily="34" charset="-122"/>
                <a:cs typeface="Aptos" pitchFamily="34" charset="-120"/>
              </a:rPr>
              <a:t>Foreground notification keeps the host aware</a:t>
            </a:r>
            <a:endParaRPr lang="en-US" sz="1550" dirty="0"/>
          </a:p>
          <a:p>
            <a:r>
              <a:rPr lang="en-US" sz="1550" dirty="0">
                <a:solidFill>
                  <a:srgbClr val="21242A"/>
                </a:solidFill>
                <a:latin typeface="Aptos" pitchFamily="34" charset="0"/>
                <a:ea typeface="Aptos" pitchFamily="34" charset="-122"/>
                <a:cs typeface="Aptos" pitchFamily="34" charset="-120"/>
              </a:rPr>
              <a:t>Share screen shows Wi-Fi join QR + catalog QR/link</a:t>
            </a:r>
            <a:endParaRPr lang="en-US" sz="1550" dirty="0"/>
          </a:p>
          <a:p>
            <a:r>
              <a:rPr lang="en-US" sz="1550" dirty="0">
                <a:solidFill>
                  <a:srgbClr val="21242A"/>
                </a:solidFill>
                <a:latin typeface="Aptos" pitchFamily="34" charset="0"/>
                <a:ea typeface="Aptos" pitchFamily="34" charset="-122"/>
                <a:cs typeface="Aptos" pitchFamily="34" charset="-120"/>
              </a:rPr>
              <a:t>Physical-sign instructions are copyable</a:t>
            </a:r>
            <a:endParaRPr lang="en-US" sz="1550" dirty="0"/>
          </a:p>
        </p:txBody>
      </p:sp>
      <p:sp>
        <p:nvSpPr>
          <p:cNvPr id="8" name="Text 5"/>
          <p:cNvSpPr/>
          <p:nvPr/>
        </p:nvSpPr>
        <p:spPr>
          <a:xfrm>
            <a:off x="5943600" y="5047488"/>
            <a:ext cx="4937760" cy="365760"/>
          </a:xfrm>
          <a:prstGeom prst="rect">
            <a:avLst/>
          </a:prstGeom>
          <a:noFill/>
          <a:ln/>
        </p:spPr>
        <p:txBody>
          <a:bodyPr wrap="square" lIns="0" tIns="0" rIns="0" bIns="0" rtlCol="0" anchor="ctr">
            <a:normAutofit/>
          </a:bodyPr>
          <a:lstStyle/>
          <a:p>
            <a:pPr indent="0" marL="0">
              <a:buNone/>
            </a:pPr>
            <a:r>
              <a:rPr lang="en-US" sz="1800" b="1" dirty="0">
                <a:solidFill>
                  <a:srgbClr val="2C8A4B"/>
                </a:solidFill>
              </a:rPr>
              <a:t>No app. No account. No public marketplace.</a:t>
            </a:r>
            <a:endParaRPr lang="en-US" sz="1800" dirty="0"/>
          </a:p>
        </p:txBody>
      </p:sp>
      <p:sp>
        <p:nvSpPr>
          <p:cNvPr id="9" name="Text 6"/>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0" name="Text 7"/>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1:15–1:50</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Visitor experience: read-only and live</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a_clean_storyboard_comic_style_illustration_or_app.png">    </p:cNvPr>
          <p:cNvPicPr>
            <a:picLocks noChangeAspect="1"/>
          </p:cNvPicPr>
          <p:nvPr/>
        </p:nvPicPr>
        <p:blipFill>
          <a:blip r:embed="rId1"/>
          <a:stretch>
            <a:fillRect/>
          </a:stretch>
        </p:blipFill>
        <p:spPr>
          <a:xfrm>
            <a:off x="548640" y="2058866"/>
            <a:ext cx="5486400" cy="3087741"/>
          </a:xfrm>
          <a:prstGeom prst="rect">
            <a:avLst/>
          </a:prstGeom>
        </p:spPr>
      </p:pic>
      <p:sp>
        <p:nvSpPr>
          <p:cNvPr id="6" name="Text 3"/>
          <p:cNvSpPr/>
          <p:nvPr/>
        </p:nvSpPr>
        <p:spPr>
          <a:xfrm>
            <a:off x="6446520" y="1554480"/>
            <a:ext cx="5029200" cy="329184"/>
          </a:xfrm>
          <a:prstGeom prst="rect">
            <a:avLst/>
          </a:prstGeom>
          <a:noFill/>
          <a:ln/>
        </p:spPr>
        <p:txBody>
          <a:bodyPr wrap="square" lIns="0" tIns="0" rIns="0" bIns="0" rtlCol="0" anchor="ctr"/>
          <a:lstStyle/>
          <a:p>
            <a:pPr indent="0" marL="0">
              <a:buNone/>
            </a:pPr>
            <a:r>
              <a:rPr lang="en-US" sz="1800" b="1" dirty="0">
                <a:solidFill>
                  <a:srgbClr val="21242A"/>
                </a:solidFill>
              </a:rPr>
              <a:t>The visitor sees only what they need:</a:t>
            </a:r>
            <a:endParaRPr lang="en-US" sz="1800" dirty="0"/>
          </a:p>
        </p:txBody>
      </p:sp>
      <p:sp>
        <p:nvSpPr>
          <p:cNvPr id="7" name="Text 4"/>
          <p:cNvSpPr/>
          <p:nvPr/>
        </p:nvSpPr>
        <p:spPr>
          <a:xfrm>
            <a:off x="6492240" y="2057400"/>
            <a:ext cx="5029200" cy="2103120"/>
          </a:xfrm>
          <a:prstGeom prst="rect">
            <a:avLst/>
          </a:prstGeom>
          <a:noFill/>
          <a:ln/>
        </p:spPr>
        <p:txBody>
          <a:bodyPr wrap="square" lIns="635" tIns="635" rIns="635" bIns="635" rtlCol="0" anchor="t">
            <a:normAutofit/>
          </a:bodyPr>
          <a:lstStyle/>
          <a:p>
            <a:r>
              <a:rPr lang="en-US" sz="1550" dirty="0">
                <a:solidFill>
                  <a:srgbClr val="21242A"/>
                </a:solidFill>
                <a:latin typeface="Aptos" pitchFamily="34" charset="0"/>
                <a:ea typeface="Aptos" pitchFamily="34" charset="-122"/>
                <a:cs typeface="Aptos" pitchFamily="34" charset="-120"/>
              </a:rPr>
              <a:t>Read-only catalog label</a:t>
            </a:r>
            <a:endParaRPr lang="en-US" sz="1550" dirty="0"/>
          </a:p>
          <a:p>
            <a:r>
              <a:rPr lang="en-US" sz="1550" dirty="0">
                <a:solidFill>
                  <a:srgbClr val="21242A"/>
                </a:solidFill>
                <a:latin typeface="Aptos" pitchFamily="34" charset="0"/>
                <a:ea typeface="Aptos" pitchFamily="34" charset="-122"/>
                <a:cs typeface="Aptos" pitchFamily="34" charset="-120"/>
              </a:rPr>
              <a:t>Available items first</a:t>
            </a:r>
            <a:endParaRPr lang="en-US" sz="1550" dirty="0"/>
          </a:p>
          <a:p>
            <a:r>
              <a:rPr lang="en-US" sz="1550" dirty="0">
                <a:solidFill>
                  <a:srgbClr val="21242A"/>
                </a:solidFill>
                <a:latin typeface="Aptos" pitchFamily="34" charset="0"/>
                <a:ea typeface="Aptos" pitchFamily="34" charset="-122"/>
                <a:cs typeface="Aptos" pitchFamily="34" charset="-120"/>
              </a:rPr>
              <a:t>Sold items visually distinct</a:t>
            </a:r>
            <a:endParaRPr lang="en-US" sz="1550" dirty="0"/>
          </a:p>
          <a:p>
            <a:r>
              <a:rPr lang="en-US" sz="1550" dirty="0">
                <a:solidFill>
                  <a:srgbClr val="21242A"/>
                </a:solidFill>
                <a:latin typeface="Aptos" pitchFamily="34" charset="0"/>
                <a:ea typeface="Aptos" pitchFamily="34" charset="-122"/>
                <a:cs typeface="Aptos" pitchFamily="34" charset="-120"/>
              </a:rPr>
              <a:t>Notes, categories, contact handoff, Looking For section</a:t>
            </a:r>
            <a:endParaRPr lang="en-US" sz="1550" dirty="0"/>
          </a:p>
          <a:p>
            <a:r>
              <a:rPr lang="en-US" sz="1550" dirty="0">
                <a:solidFill>
                  <a:srgbClr val="21242A"/>
                </a:solidFill>
                <a:latin typeface="Aptos" pitchFamily="34" charset="0"/>
                <a:ea typeface="Aptos" pitchFamily="34" charset="-122"/>
                <a:cs typeface="Aptos" pitchFamily="34" charset="-120"/>
              </a:rPr>
              <a:t>Sold status updates within seconds</a:t>
            </a:r>
            <a:endParaRPr lang="en-US" sz="1550" dirty="0"/>
          </a:p>
        </p:txBody>
      </p:sp>
      <p:sp>
        <p:nvSpPr>
          <p:cNvPr id="8" name="Text 5"/>
          <p:cNvSpPr/>
          <p:nvPr/>
        </p:nvSpPr>
        <p:spPr>
          <a:xfrm>
            <a:off x="6492240" y="5074920"/>
            <a:ext cx="4937760" cy="411480"/>
          </a:xfrm>
          <a:prstGeom prst="rect">
            <a:avLst/>
          </a:prstGeom>
          <a:noFill/>
          <a:ln/>
        </p:spPr>
        <p:txBody>
          <a:bodyPr wrap="square" lIns="0" tIns="0" rIns="0" bIns="0" rtlCol="0" anchor="ctr">
            <a:normAutofit/>
          </a:bodyPr>
          <a:lstStyle/>
          <a:p>
            <a:pPr indent="0" marL="0">
              <a:buNone/>
            </a:pPr>
            <a:r>
              <a:rPr lang="en-US" sz="1550" b="1" dirty="0">
                <a:solidFill>
                  <a:srgbClr val="C74747"/>
                </a:solidFill>
              </a:rPr>
              <a:t>Key demo moment: mark one item sold on the host phone; show the visitor page update.</a:t>
            </a:r>
            <a:endParaRPr lang="en-US" sz="1550" dirty="0"/>
          </a:p>
        </p:txBody>
      </p:sp>
      <p:sp>
        <p:nvSpPr>
          <p:cNvPr id="9" name="Text 6"/>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0" name="Text 7"/>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1:50–2:15</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Background stability and closure</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a_clean_storyboard_comic_style_illustration_or_app.png">    </p:cNvPr>
          <p:cNvPicPr>
            <a:picLocks noChangeAspect="1"/>
          </p:cNvPicPr>
          <p:nvPr/>
        </p:nvPicPr>
        <p:blipFill>
          <a:blip r:embed="rId1"/>
          <a:stretch>
            <a:fillRect/>
          </a:stretch>
        </p:blipFill>
        <p:spPr>
          <a:xfrm>
            <a:off x="6355080" y="1428889"/>
            <a:ext cx="4800600" cy="2701773"/>
          </a:xfrm>
          <a:prstGeom prst="rect">
            <a:avLst/>
          </a:prstGeom>
        </p:spPr>
      </p:pic>
      <p:pic>
        <p:nvPicPr>
          <p:cNvPr id="6" name="Image 1" descr="/mnt/data/a_wide_softly_lit_scene_like_an_app_promo_illustr.png">    </p:cNvPr>
          <p:cNvPicPr>
            <a:picLocks noChangeAspect="1"/>
          </p:cNvPicPr>
          <p:nvPr/>
        </p:nvPicPr>
        <p:blipFill>
          <a:blip r:embed="rId2"/>
          <a:stretch>
            <a:fillRect/>
          </a:stretch>
        </p:blipFill>
        <p:spPr>
          <a:xfrm>
            <a:off x="7601817" y="4434840"/>
            <a:ext cx="2307125" cy="1298448"/>
          </a:xfrm>
          <a:prstGeom prst="rect">
            <a:avLst/>
          </a:prstGeom>
        </p:spPr>
      </p:pic>
      <p:sp>
        <p:nvSpPr>
          <p:cNvPr id="7" name="Text 3"/>
          <p:cNvSpPr/>
          <p:nvPr/>
        </p:nvSpPr>
        <p:spPr>
          <a:xfrm>
            <a:off x="658368" y="1691640"/>
            <a:ext cx="320040" cy="320040"/>
          </a:xfrm>
          <a:prstGeom prst="rect">
            <a:avLst/>
          </a:prstGeom>
          <a:solidFill>
            <a:srgbClr val="14365D"/>
          </a:solidFill>
          <a:ln/>
        </p:spPr>
        <p:txBody>
          <a:bodyPr wrap="square" lIns="0" tIns="0" rIns="0" bIns="0" rtlCol="0" anchor="ctr">
            <a:normAutofit/>
          </a:bodyPr>
          <a:lstStyle/>
          <a:p>
            <a:pPr algn="ctr" indent="0" marL="0">
              <a:buNone/>
            </a:pPr>
            <a:r>
              <a:rPr lang="en-US" sz="1400" b="1" dirty="0">
                <a:solidFill>
                  <a:srgbClr val="FFFFFF"/>
                </a:solidFill>
              </a:rPr>
              <a:t>1</a:t>
            </a:r>
            <a:endParaRPr lang="en-US" sz="1400" dirty="0"/>
          </a:p>
        </p:txBody>
      </p:sp>
      <p:sp>
        <p:nvSpPr>
          <p:cNvPr id="8" name="Text 4"/>
          <p:cNvSpPr/>
          <p:nvPr/>
        </p:nvSpPr>
        <p:spPr>
          <a:xfrm>
            <a:off x="1097280" y="1682496"/>
            <a:ext cx="4754880" cy="228600"/>
          </a:xfrm>
          <a:prstGeom prst="rect">
            <a:avLst/>
          </a:prstGeom>
          <a:noFill/>
          <a:ln/>
        </p:spPr>
        <p:txBody>
          <a:bodyPr wrap="square" lIns="0" tIns="0" rIns="0" bIns="0" rtlCol="0" anchor="ctr">
            <a:normAutofit/>
          </a:bodyPr>
          <a:lstStyle/>
          <a:p>
            <a:pPr indent="0" marL="0">
              <a:buNone/>
            </a:pPr>
            <a:r>
              <a:rPr lang="en-US" sz="1450" b="1" dirty="0">
                <a:solidFill>
                  <a:srgbClr val="14365D"/>
                </a:solidFill>
              </a:rPr>
              <a:t>Switch apps</a:t>
            </a:r>
            <a:endParaRPr lang="en-US" sz="1450" dirty="0"/>
          </a:p>
        </p:txBody>
      </p:sp>
      <p:sp>
        <p:nvSpPr>
          <p:cNvPr id="9" name="Text 5"/>
          <p:cNvSpPr/>
          <p:nvPr/>
        </p:nvSpPr>
        <p:spPr>
          <a:xfrm>
            <a:off x="1097280" y="1947672"/>
            <a:ext cx="4754880" cy="402336"/>
          </a:xfrm>
          <a:prstGeom prst="rect">
            <a:avLst/>
          </a:prstGeom>
          <a:noFill/>
          <a:ln/>
        </p:spPr>
        <p:txBody>
          <a:bodyPr wrap="square" lIns="0" tIns="0" rIns="0" bIns="0" rtlCol="0" anchor="ctr">
            <a:normAutofit/>
          </a:bodyPr>
          <a:lstStyle/>
          <a:p>
            <a:pPr indent="0" marL="0">
              <a:buNone/>
            </a:pPr>
            <a:r>
              <a:rPr lang="en-US" sz="1150" dirty="0">
                <a:solidFill>
                  <a:srgbClr val="5B6470"/>
                </a:solidFill>
              </a:rPr>
              <a:t>The persistent notification explains the sale is live.</a:t>
            </a:r>
            <a:endParaRPr lang="en-US" sz="1150" dirty="0"/>
          </a:p>
        </p:txBody>
      </p:sp>
      <p:sp>
        <p:nvSpPr>
          <p:cNvPr id="10" name="Text 6"/>
          <p:cNvSpPr/>
          <p:nvPr/>
        </p:nvSpPr>
        <p:spPr>
          <a:xfrm>
            <a:off x="658368" y="2606040"/>
            <a:ext cx="320040" cy="320040"/>
          </a:xfrm>
          <a:prstGeom prst="rect">
            <a:avLst/>
          </a:prstGeom>
          <a:solidFill>
            <a:srgbClr val="14365D"/>
          </a:solidFill>
          <a:ln/>
        </p:spPr>
        <p:txBody>
          <a:bodyPr wrap="square" lIns="0" tIns="0" rIns="0" bIns="0" rtlCol="0" anchor="ctr">
            <a:normAutofit/>
          </a:bodyPr>
          <a:lstStyle/>
          <a:p>
            <a:pPr algn="ctr" indent="0" marL="0">
              <a:buNone/>
            </a:pPr>
            <a:r>
              <a:rPr lang="en-US" sz="1400" b="1" dirty="0">
                <a:solidFill>
                  <a:srgbClr val="FFFFFF"/>
                </a:solidFill>
              </a:rPr>
              <a:t>2</a:t>
            </a:r>
            <a:endParaRPr lang="en-US" sz="1400" dirty="0"/>
          </a:p>
        </p:txBody>
      </p:sp>
      <p:sp>
        <p:nvSpPr>
          <p:cNvPr id="11" name="Text 7"/>
          <p:cNvSpPr/>
          <p:nvPr/>
        </p:nvSpPr>
        <p:spPr>
          <a:xfrm>
            <a:off x="1097280" y="2596896"/>
            <a:ext cx="4754880" cy="228600"/>
          </a:xfrm>
          <a:prstGeom prst="rect">
            <a:avLst/>
          </a:prstGeom>
          <a:noFill/>
          <a:ln/>
        </p:spPr>
        <p:txBody>
          <a:bodyPr wrap="square" lIns="0" tIns="0" rIns="0" bIns="0" rtlCol="0" anchor="ctr">
            <a:normAutofit/>
          </a:bodyPr>
          <a:lstStyle/>
          <a:p>
            <a:pPr indent="0" marL="0">
              <a:buNone/>
            </a:pPr>
            <a:r>
              <a:rPr lang="en-US" sz="1450" b="1" dirty="0">
                <a:solidFill>
                  <a:srgbClr val="14365D"/>
                </a:solidFill>
              </a:rPr>
              <a:t>Visitor stays connected</a:t>
            </a:r>
            <a:endParaRPr lang="en-US" sz="1450" dirty="0"/>
          </a:p>
        </p:txBody>
      </p:sp>
      <p:sp>
        <p:nvSpPr>
          <p:cNvPr id="12" name="Text 8"/>
          <p:cNvSpPr/>
          <p:nvPr/>
        </p:nvSpPr>
        <p:spPr>
          <a:xfrm>
            <a:off x="1097280" y="2862072"/>
            <a:ext cx="4754880" cy="402336"/>
          </a:xfrm>
          <a:prstGeom prst="rect">
            <a:avLst/>
          </a:prstGeom>
          <a:noFill/>
          <a:ln/>
        </p:spPr>
        <p:txBody>
          <a:bodyPr wrap="square" lIns="0" tIns="0" rIns="0" bIns="0" rtlCol="0" anchor="ctr">
            <a:normAutofit/>
          </a:bodyPr>
          <a:lstStyle/>
          <a:p>
            <a:pPr indent="0" marL="0">
              <a:buNone/>
            </a:pPr>
            <a:r>
              <a:rPr lang="en-US" sz="1150" dirty="0">
                <a:solidFill>
                  <a:srgbClr val="5B6470"/>
                </a:solidFill>
              </a:rPr>
              <a:t>The local catalog remains available during the sale.</a:t>
            </a:r>
            <a:endParaRPr lang="en-US" sz="1150" dirty="0"/>
          </a:p>
        </p:txBody>
      </p:sp>
      <p:sp>
        <p:nvSpPr>
          <p:cNvPr id="13" name="Text 9"/>
          <p:cNvSpPr/>
          <p:nvPr/>
        </p:nvSpPr>
        <p:spPr>
          <a:xfrm>
            <a:off x="658368" y="3520440"/>
            <a:ext cx="320040" cy="320040"/>
          </a:xfrm>
          <a:prstGeom prst="rect">
            <a:avLst/>
          </a:prstGeom>
          <a:solidFill>
            <a:srgbClr val="14365D"/>
          </a:solidFill>
          <a:ln/>
        </p:spPr>
        <p:txBody>
          <a:bodyPr wrap="square" lIns="0" tIns="0" rIns="0" bIns="0" rtlCol="0" anchor="ctr">
            <a:normAutofit/>
          </a:bodyPr>
          <a:lstStyle/>
          <a:p>
            <a:pPr algn="ctr" indent="0" marL="0">
              <a:buNone/>
            </a:pPr>
            <a:r>
              <a:rPr lang="en-US" sz="1400" b="1" dirty="0">
                <a:solidFill>
                  <a:srgbClr val="FFFFFF"/>
                </a:solidFill>
              </a:rPr>
              <a:t>3</a:t>
            </a:r>
            <a:endParaRPr lang="en-US" sz="1400" dirty="0"/>
          </a:p>
        </p:txBody>
      </p:sp>
      <p:sp>
        <p:nvSpPr>
          <p:cNvPr id="14" name="Text 10"/>
          <p:cNvSpPr/>
          <p:nvPr/>
        </p:nvSpPr>
        <p:spPr>
          <a:xfrm>
            <a:off x="1097280" y="3511296"/>
            <a:ext cx="4754880" cy="228600"/>
          </a:xfrm>
          <a:prstGeom prst="rect">
            <a:avLst/>
          </a:prstGeom>
          <a:noFill/>
          <a:ln/>
        </p:spPr>
        <p:txBody>
          <a:bodyPr wrap="square" lIns="0" tIns="0" rIns="0" bIns="0" rtlCol="0" anchor="ctr">
            <a:normAutofit/>
          </a:bodyPr>
          <a:lstStyle/>
          <a:p>
            <a:pPr indent="0" marL="0">
              <a:buNone/>
            </a:pPr>
            <a:r>
              <a:rPr lang="en-US" sz="1450" b="1" dirty="0">
                <a:solidFill>
                  <a:srgbClr val="14365D"/>
                </a:solidFill>
              </a:rPr>
              <a:t>Close sale</a:t>
            </a:r>
            <a:endParaRPr lang="en-US" sz="1450" dirty="0"/>
          </a:p>
        </p:txBody>
      </p:sp>
      <p:sp>
        <p:nvSpPr>
          <p:cNvPr id="15" name="Text 11"/>
          <p:cNvSpPr/>
          <p:nvPr/>
        </p:nvSpPr>
        <p:spPr>
          <a:xfrm>
            <a:off x="1097280" y="3776472"/>
            <a:ext cx="4754880" cy="402336"/>
          </a:xfrm>
          <a:prstGeom prst="rect">
            <a:avLst/>
          </a:prstGeom>
          <a:noFill/>
          <a:ln/>
        </p:spPr>
        <p:txBody>
          <a:bodyPr wrap="square" lIns="0" tIns="0" rIns="0" bIns="0" rtlCol="0" anchor="ctr">
            <a:normAutofit/>
          </a:bodyPr>
          <a:lstStyle/>
          <a:p>
            <a:pPr indent="0" marL="0">
              <a:buNone/>
            </a:pPr>
            <a:r>
              <a:rPr lang="en-US" sz="1150" dirty="0">
                <a:solidFill>
                  <a:srgbClr val="5B6470"/>
                </a:solidFill>
              </a:rPr>
              <a:t>Serving stops and the visitor sees a clear closed state.</a:t>
            </a:r>
            <a:endParaRPr lang="en-US" sz="1150" dirty="0"/>
          </a:p>
        </p:txBody>
      </p:sp>
      <p:sp>
        <p:nvSpPr>
          <p:cNvPr id="16" name="Text 12"/>
          <p:cNvSpPr/>
          <p:nvPr/>
        </p:nvSpPr>
        <p:spPr>
          <a:xfrm>
            <a:off x="658368" y="4773168"/>
            <a:ext cx="4892040" cy="548640"/>
          </a:xfrm>
          <a:prstGeom prst="rect">
            <a:avLst/>
          </a:prstGeom>
          <a:noFill/>
          <a:ln/>
        </p:spPr>
        <p:txBody>
          <a:bodyPr wrap="square" lIns="0" tIns="0" rIns="0" bIns="0" rtlCol="0" anchor="ctr">
            <a:normAutofit/>
          </a:bodyPr>
          <a:lstStyle/>
          <a:p>
            <a:pPr indent="0" marL="0">
              <a:buNone/>
            </a:pPr>
            <a:r>
              <a:rPr lang="en-US" sz="1700" b="1" dirty="0">
                <a:solidFill>
                  <a:srgbClr val="14365D"/>
                </a:solidFill>
              </a:rPr>
              <a:t>This is the difference between a demo screen and a temporary place hosted by the phone.</a:t>
            </a:r>
            <a:endParaRPr lang="en-US" sz="1700" dirty="0"/>
          </a:p>
        </p:txBody>
      </p:sp>
      <p:sp>
        <p:nvSpPr>
          <p:cNvPr id="17" name="Text 13"/>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8" name="Text 14"/>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2:15–2:30</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Temporary by design</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a_wide_softly_lit_scene_like_an_app_promo_illustr.png">    </p:cNvPr>
          <p:cNvPicPr>
            <a:picLocks noChangeAspect="1"/>
          </p:cNvPicPr>
          <p:nvPr/>
        </p:nvPicPr>
        <p:blipFill>
          <a:blip r:embed="rId1"/>
          <a:stretch>
            <a:fillRect/>
          </a:stretch>
        </p:blipFill>
        <p:spPr>
          <a:xfrm>
            <a:off x="658368" y="2042278"/>
            <a:ext cx="5577840" cy="3139203"/>
          </a:xfrm>
          <a:prstGeom prst="rect">
            <a:avLst/>
          </a:prstGeom>
        </p:spPr>
      </p:pic>
      <p:sp>
        <p:nvSpPr>
          <p:cNvPr id="6" name="Text 3"/>
          <p:cNvSpPr/>
          <p:nvPr/>
        </p:nvSpPr>
        <p:spPr>
          <a:xfrm>
            <a:off x="6629400" y="1664208"/>
            <a:ext cx="4663440" cy="438912"/>
          </a:xfrm>
          <a:prstGeom prst="rect">
            <a:avLst/>
          </a:prstGeom>
          <a:noFill/>
          <a:ln/>
        </p:spPr>
        <p:txBody>
          <a:bodyPr wrap="square" lIns="0" tIns="0" rIns="0" bIns="0" rtlCol="0" anchor="ctr">
            <a:normAutofit/>
          </a:bodyPr>
          <a:lstStyle/>
          <a:p>
            <a:pPr indent="0" marL="0">
              <a:buNone/>
            </a:pPr>
            <a:r>
              <a:rPr lang="en-US" sz="2700" b="1" dirty="0">
                <a:solidFill>
                  <a:srgbClr val="14365D"/>
                </a:solidFill>
              </a:rPr>
              <a:t>When the sale ends, the site ends.</a:t>
            </a:r>
            <a:endParaRPr lang="en-US" sz="2700" dirty="0"/>
          </a:p>
        </p:txBody>
      </p:sp>
      <p:sp>
        <p:nvSpPr>
          <p:cNvPr id="7" name="Text 4"/>
          <p:cNvSpPr/>
          <p:nvPr/>
        </p:nvSpPr>
        <p:spPr>
          <a:xfrm>
            <a:off x="6675120" y="2395728"/>
            <a:ext cx="4892040" cy="1719072"/>
          </a:xfrm>
          <a:prstGeom prst="rect">
            <a:avLst/>
          </a:prstGeom>
          <a:noFill/>
          <a:ln/>
        </p:spPr>
        <p:txBody>
          <a:bodyPr wrap="square" lIns="635" tIns="635" rIns="635" bIns="635" rtlCol="0" anchor="t">
            <a:normAutofit/>
          </a:bodyPr>
          <a:lstStyle/>
          <a:p>
            <a:r>
              <a:rPr lang="en-US" sz="1550" dirty="0">
                <a:solidFill>
                  <a:srgbClr val="21242A"/>
                </a:solidFill>
                <a:latin typeface="Aptos" pitchFamily="34" charset="0"/>
                <a:ea typeface="Aptos" pitchFamily="34" charset="-122"/>
                <a:cs typeface="Aptos" pitchFamily="34" charset="-120"/>
              </a:rPr>
              <a:t>Close sale stops the local catalog</a:t>
            </a:r>
            <a:endParaRPr lang="en-US" sz="1550" dirty="0"/>
          </a:p>
          <a:p>
            <a:r>
              <a:rPr lang="en-US" sz="1550" dirty="0">
                <a:solidFill>
                  <a:srgbClr val="21242A"/>
                </a:solidFill>
                <a:latin typeface="Aptos" pitchFamily="34" charset="0"/>
                <a:ea typeface="Aptos" pitchFamily="34" charset="-122"/>
                <a:cs typeface="Aptos" pitchFamily="34" charset="-120"/>
              </a:rPr>
              <a:t>Delete All Sale Data clears the app-owned data</a:t>
            </a:r>
            <a:endParaRPr lang="en-US" sz="1550" dirty="0"/>
          </a:p>
          <a:p>
            <a:r>
              <a:rPr lang="en-US" sz="1550" dirty="0">
                <a:solidFill>
                  <a:srgbClr val="21242A"/>
                </a:solidFill>
                <a:latin typeface="Aptos" pitchFamily="34" charset="0"/>
                <a:ea typeface="Aptos" pitchFamily="34" charset="-122"/>
                <a:cs typeface="Aptos" pitchFamily="34" charset="-120"/>
              </a:rPr>
              <a:t>The app returns to an empty Draft state</a:t>
            </a:r>
            <a:endParaRPr lang="en-US" sz="1550" dirty="0"/>
          </a:p>
          <a:p>
            <a:r>
              <a:rPr lang="en-US" sz="1550" dirty="0">
                <a:solidFill>
                  <a:srgbClr val="21242A"/>
                </a:solidFill>
                <a:latin typeface="Aptos" pitchFamily="34" charset="0"/>
                <a:ea typeface="Aptos" pitchFamily="34" charset="-122"/>
                <a:cs typeface="Aptos" pitchFamily="34" charset="-120"/>
              </a:rPr>
              <a:t>No account, analytics, ads, payments, or marketplace residue</a:t>
            </a:r>
            <a:endParaRPr lang="en-US" sz="1550" dirty="0"/>
          </a:p>
        </p:txBody>
      </p:sp>
      <p:sp>
        <p:nvSpPr>
          <p:cNvPr id="8" name="Text 5"/>
          <p:cNvSpPr/>
          <p:nvPr/>
        </p:nvSpPr>
        <p:spPr>
          <a:xfrm>
            <a:off x="6675120" y="5138928"/>
            <a:ext cx="1005840" cy="164592"/>
          </a:xfrm>
          <a:prstGeom prst="rect">
            <a:avLst/>
          </a:prstGeom>
          <a:noFill/>
          <a:ln/>
        </p:spPr>
        <p:txBody>
          <a:bodyPr wrap="square" lIns="0" tIns="0" rIns="0" bIns="0" rtlCol="0" anchor="ctr"/>
          <a:lstStyle/>
          <a:p>
            <a:pPr indent="0" marL="0">
              <a:buNone/>
            </a:pPr>
            <a:r>
              <a:rPr lang="en-US" sz="950" b="1" dirty="0">
                <a:solidFill>
                  <a:srgbClr val="32628D"/>
                </a:solidFill>
              </a:rPr>
              <a:t>Closing line</a:t>
            </a:r>
            <a:endParaRPr lang="en-US" sz="950" dirty="0"/>
          </a:p>
        </p:txBody>
      </p:sp>
      <p:sp>
        <p:nvSpPr>
          <p:cNvPr id="9" name="Text 6"/>
          <p:cNvSpPr/>
          <p:nvPr/>
        </p:nvSpPr>
        <p:spPr>
          <a:xfrm>
            <a:off x="6675120" y="5394960"/>
            <a:ext cx="4663440" cy="502920"/>
          </a:xfrm>
          <a:prstGeom prst="rect">
            <a:avLst/>
          </a:prstGeom>
          <a:noFill/>
          <a:ln/>
        </p:spPr>
        <p:txBody>
          <a:bodyPr wrap="square" lIns="0" tIns="0" rIns="0" bIns="0" rtlCol="0" anchor="ctr">
            <a:normAutofit/>
          </a:bodyPr>
          <a:lstStyle/>
          <a:p>
            <a:pPr indent="0" marL="0">
              <a:buNone/>
            </a:pPr>
            <a:r>
              <a:rPr lang="en-US" sz="1520" b="1" i="1" dirty="0">
                <a:solidFill>
                  <a:srgbClr val="14365D"/>
                </a:solidFill>
              </a:rPr>
              <a:t>“Pocket Site is local-first, private, and temporary by design—not another marketplace.”</a:t>
            </a:r>
            <a:endParaRPr lang="en-US" sz="1520" dirty="0"/>
          </a:p>
        </p:txBody>
      </p:sp>
      <p:sp>
        <p:nvSpPr>
          <p:cNvPr id="10" name="Text 7"/>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1" name="Text 8"/>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RECORDING PLAN</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Voiceover cue sheet</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sp>
        <p:nvSpPr>
          <p:cNvPr id="5" name="Text 3"/>
          <p:cNvSpPr/>
          <p:nvPr/>
        </p:nvSpPr>
        <p:spPr>
          <a:xfrm>
            <a:off x="640080" y="1225296"/>
            <a:ext cx="1097280" cy="201168"/>
          </a:xfrm>
          <a:prstGeom prst="rect">
            <a:avLst/>
          </a:prstGeom>
          <a:noFill/>
          <a:ln/>
        </p:spPr>
        <p:txBody>
          <a:bodyPr wrap="square" lIns="0" tIns="0" rIns="0" bIns="0" rtlCol="0" anchor="ctr"/>
          <a:lstStyle/>
          <a:p>
            <a:pPr indent="0" marL="0">
              <a:buNone/>
            </a:pPr>
            <a:r>
              <a:rPr lang="en-US" sz="1000" b="1" dirty="0">
                <a:solidFill>
                  <a:srgbClr val="32628D"/>
                </a:solidFill>
              </a:rPr>
              <a:t>Time</a:t>
            </a:r>
            <a:endParaRPr lang="en-US" sz="1000" dirty="0"/>
          </a:p>
        </p:txBody>
      </p:sp>
      <p:sp>
        <p:nvSpPr>
          <p:cNvPr id="6" name="Text 4"/>
          <p:cNvSpPr/>
          <p:nvPr/>
        </p:nvSpPr>
        <p:spPr>
          <a:xfrm>
            <a:off x="2377440" y="1225296"/>
            <a:ext cx="1188720" cy="201168"/>
          </a:xfrm>
          <a:prstGeom prst="rect">
            <a:avLst/>
          </a:prstGeom>
          <a:noFill/>
          <a:ln/>
        </p:spPr>
        <p:txBody>
          <a:bodyPr wrap="square" lIns="0" tIns="0" rIns="0" bIns="0" rtlCol="0" anchor="ctr"/>
          <a:lstStyle/>
          <a:p>
            <a:pPr indent="0" marL="0">
              <a:buNone/>
            </a:pPr>
            <a:r>
              <a:rPr lang="en-US" sz="1000" b="1" dirty="0">
                <a:solidFill>
                  <a:srgbClr val="32628D"/>
                </a:solidFill>
              </a:rPr>
              <a:t>Beat</a:t>
            </a:r>
            <a:endParaRPr lang="en-US" sz="1000" dirty="0"/>
          </a:p>
        </p:txBody>
      </p:sp>
      <p:sp>
        <p:nvSpPr>
          <p:cNvPr id="7" name="Text 5"/>
          <p:cNvSpPr/>
          <p:nvPr/>
        </p:nvSpPr>
        <p:spPr>
          <a:xfrm>
            <a:off x="4389120" y="1225296"/>
            <a:ext cx="4389120" cy="201168"/>
          </a:xfrm>
          <a:prstGeom prst="rect">
            <a:avLst/>
          </a:prstGeom>
          <a:noFill/>
          <a:ln/>
        </p:spPr>
        <p:txBody>
          <a:bodyPr wrap="square" lIns="0" tIns="0" rIns="0" bIns="0" rtlCol="0" anchor="ctr"/>
          <a:lstStyle/>
          <a:p>
            <a:pPr indent="0" marL="0">
              <a:buNone/>
            </a:pPr>
            <a:r>
              <a:rPr lang="en-US" sz="1000" b="1" dirty="0">
                <a:solidFill>
                  <a:srgbClr val="32628D"/>
                </a:solidFill>
              </a:rPr>
              <a:t>Voiceover focus</a:t>
            </a:r>
            <a:endParaRPr lang="en-US" sz="1000" dirty="0"/>
          </a:p>
        </p:txBody>
      </p:sp>
      <p:sp>
        <p:nvSpPr>
          <p:cNvPr id="8" name="Text 6"/>
          <p:cNvSpPr/>
          <p:nvPr/>
        </p:nvSpPr>
        <p:spPr>
          <a:xfrm>
            <a:off x="640080" y="1627632"/>
            <a:ext cx="1371600" cy="274320"/>
          </a:xfrm>
          <a:prstGeom prst="rect">
            <a:avLst/>
          </a:prstGeom>
          <a:noFill/>
          <a:ln/>
        </p:spPr>
        <p:txBody>
          <a:bodyPr wrap="square" lIns="0" tIns="0" rIns="0" bIns="0" rtlCol="0" anchor="ctr">
            <a:normAutofit/>
          </a:bodyPr>
          <a:lstStyle/>
          <a:p>
            <a:pPr indent="0" marL="0">
              <a:buNone/>
            </a:pPr>
            <a:r>
              <a:rPr lang="en-US" sz="1350" b="1" dirty="0">
                <a:solidFill>
                  <a:srgbClr val="14365D"/>
                </a:solidFill>
              </a:rPr>
              <a:t>0:00–0:20</a:t>
            </a:r>
            <a:endParaRPr lang="en-US" sz="1350" dirty="0"/>
          </a:p>
        </p:txBody>
      </p:sp>
      <p:sp>
        <p:nvSpPr>
          <p:cNvPr id="9" name="Text 7"/>
          <p:cNvSpPr/>
          <p:nvPr/>
        </p:nvSpPr>
        <p:spPr>
          <a:xfrm>
            <a:off x="2377440" y="1627632"/>
            <a:ext cx="1554480" cy="274320"/>
          </a:xfrm>
          <a:prstGeom prst="rect">
            <a:avLst/>
          </a:prstGeom>
          <a:noFill/>
          <a:ln/>
        </p:spPr>
        <p:txBody>
          <a:bodyPr wrap="square" lIns="0" tIns="0" rIns="0" bIns="0" rtlCol="0" anchor="ctr">
            <a:normAutofit/>
          </a:bodyPr>
          <a:lstStyle/>
          <a:p>
            <a:pPr indent="0" marL="0">
              <a:buNone/>
            </a:pPr>
            <a:r>
              <a:rPr lang="en-US" sz="1350" b="1" dirty="0">
                <a:solidFill>
                  <a:srgbClr val="21242A"/>
                </a:solidFill>
              </a:rPr>
              <a:t>Problem</a:t>
            </a:r>
            <a:endParaRPr lang="en-US" sz="1350" dirty="0"/>
          </a:p>
        </p:txBody>
      </p:sp>
      <p:sp>
        <p:nvSpPr>
          <p:cNvPr id="10" name="Text 8"/>
          <p:cNvSpPr/>
          <p:nvPr/>
        </p:nvSpPr>
        <p:spPr>
          <a:xfrm>
            <a:off x="4389120" y="1627632"/>
            <a:ext cx="6675120" cy="347472"/>
          </a:xfrm>
          <a:prstGeom prst="rect">
            <a:avLst/>
          </a:prstGeom>
          <a:noFill/>
          <a:ln/>
        </p:spPr>
        <p:txBody>
          <a:bodyPr wrap="square" lIns="0" tIns="0" rIns="0" bIns="0" rtlCol="0" anchor="ctr">
            <a:normAutofit/>
          </a:bodyPr>
          <a:lstStyle/>
          <a:p>
            <a:pPr indent="0" marL="0">
              <a:buNone/>
            </a:pPr>
            <a:r>
              <a:rPr lang="en-US" sz="1320" dirty="0">
                <a:solidFill>
                  <a:srgbClr val="21242A"/>
                </a:solidFill>
              </a:rPr>
              <a:t>Garage-sale signs show where, not what.</a:t>
            </a:r>
            <a:endParaRPr lang="en-US" sz="1320" dirty="0"/>
          </a:p>
        </p:txBody>
      </p:sp>
      <p:sp>
        <p:nvSpPr>
          <p:cNvPr id="11" name="Text 9"/>
          <p:cNvSpPr/>
          <p:nvPr/>
        </p:nvSpPr>
        <p:spPr>
          <a:xfrm>
            <a:off x="640080" y="2286000"/>
            <a:ext cx="1371600" cy="274320"/>
          </a:xfrm>
          <a:prstGeom prst="rect">
            <a:avLst/>
          </a:prstGeom>
          <a:noFill/>
          <a:ln/>
        </p:spPr>
        <p:txBody>
          <a:bodyPr wrap="square" lIns="0" tIns="0" rIns="0" bIns="0" rtlCol="0" anchor="ctr">
            <a:normAutofit/>
          </a:bodyPr>
          <a:lstStyle/>
          <a:p>
            <a:pPr indent="0" marL="0">
              <a:buNone/>
            </a:pPr>
            <a:r>
              <a:rPr lang="en-US" sz="1350" b="1" dirty="0">
                <a:solidFill>
                  <a:srgbClr val="14365D"/>
                </a:solidFill>
              </a:rPr>
              <a:t>0:20–0:45</a:t>
            </a:r>
            <a:endParaRPr lang="en-US" sz="1350" dirty="0"/>
          </a:p>
        </p:txBody>
      </p:sp>
      <p:sp>
        <p:nvSpPr>
          <p:cNvPr id="12" name="Text 10"/>
          <p:cNvSpPr/>
          <p:nvPr/>
        </p:nvSpPr>
        <p:spPr>
          <a:xfrm>
            <a:off x="2377440" y="2286000"/>
            <a:ext cx="1554480" cy="274320"/>
          </a:xfrm>
          <a:prstGeom prst="rect">
            <a:avLst/>
          </a:prstGeom>
          <a:noFill/>
          <a:ln/>
        </p:spPr>
        <p:txBody>
          <a:bodyPr wrap="square" lIns="0" tIns="0" rIns="0" bIns="0" rtlCol="0" anchor="ctr">
            <a:normAutofit/>
          </a:bodyPr>
          <a:lstStyle/>
          <a:p>
            <a:pPr indent="0" marL="0">
              <a:buNone/>
            </a:pPr>
            <a:r>
              <a:rPr lang="en-US" sz="1350" b="1" dirty="0">
                <a:solidFill>
                  <a:srgbClr val="21242A"/>
                </a:solidFill>
              </a:rPr>
              <a:t>Prepare</a:t>
            </a:r>
            <a:endParaRPr lang="en-US" sz="1350" dirty="0"/>
          </a:p>
        </p:txBody>
      </p:sp>
      <p:sp>
        <p:nvSpPr>
          <p:cNvPr id="13" name="Text 11"/>
          <p:cNvSpPr/>
          <p:nvPr/>
        </p:nvSpPr>
        <p:spPr>
          <a:xfrm>
            <a:off x="4389120" y="2286000"/>
            <a:ext cx="6675120" cy="347472"/>
          </a:xfrm>
          <a:prstGeom prst="rect">
            <a:avLst/>
          </a:prstGeom>
          <a:noFill/>
          <a:ln/>
        </p:spPr>
        <p:txBody>
          <a:bodyPr wrap="square" lIns="0" tIns="0" rIns="0" bIns="0" rtlCol="0" anchor="ctr">
            <a:normAutofit/>
          </a:bodyPr>
          <a:lstStyle/>
          <a:p>
            <a:pPr indent="0" marL="0">
              <a:buNone/>
            </a:pPr>
            <a:r>
              <a:rPr lang="en-US" sz="1320" dirty="0">
                <a:solidFill>
                  <a:srgbClr val="21242A"/>
                </a:solidFill>
              </a:rPr>
              <a:t>Load demo sale, show items, notes, contact, Looking For.</a:t>
            </a:r>
            <a:endParaRPr lang="en-US" sz="1320" dirty="0"/>
          </a:p>
        </p:txBody>
      </p:sp>
      <p:sp>
        <p:nvSpPr>
          <p:cNvPr id="14" name="Text 12"/>
          <p:cNvSpPr/>
          <p:nvPr/>
        </p:nvSpPr>
        <p:spPr>
          <a:xfrm>
            <a:off x="640080" y="2944368"/>
            <a:ext cx="1371600" cy="274320"/>
          </a:xfrm>
          <a:prstGeom prst="rect">
            <a:avLst/>
          </a:prstGeom>
          <a:noFill/>
          <a:ln/>
        </p:spPr>
        <p:txBody>
          <a:bodyPr wrap="square" lIns="0" tIns="0" rIns="0" bIns="0" rtlCol="0" anchor="ctr">
            <a:normAutofit/>
          </a:bodyPr>
          <a:lstStyle/>
          <a:p>
            <a:pPr indent="0" marL="0">
              <a:buNone/>
            </a:pPr>
            <a:r>
              <a:rPr lang="en-US" sz="1350" b="1" dirty="0">
                <a:solidFill>
                  <a:srgbClr val="14365D"/>
                </a:solidFill>
              </a:rPr>
              <a:t>0:45–1:15</a:t>
            </a:r>
            <a:endParaRPr lang="en-US" sz="1350" dirty="0"/>
          </a:p>
        </p:txBody>
      </p:sp>
      <p:sp>
        <p:nvSpPr>
          <p:cNvPr id="15" name="Text 13"/>
          <p:cNvSpPr/>
          <p:nvPr/>
        </p:nvSpPr>
        <p:spPr>
          <a:xfrm>
            <a:off x="2377440" y="2944368"/>
            <a:ext cx="1554480" cy="274320"/>
          </a:xfrm>
          <a:prstGeom prst="rect">
            <a:avLst/>
          </a:prstGeom>
          <a:noFill/>
          <a:ln/>
        </p:spPr>
        <p:txBody>
          <a:bodyPr wrap="square" lIns="0" tIns="0" rIns="0" bIns="0" rtlCol="0" anchor="ctr">
            <a:normAutofit/>
          </a:bodyPr>
          <a:lstStyle/>
          <a:p>
            <a:pPr indent="0" marL="0">
              <a:buNone/>
            </a:pPr>
            <a:r>
              <a:rPr lang="en-US" sz="1350" b="1" dirty="0">
                <a:solidFill>
                  <a:srgbClr val="21242A"/>
                </a:solidFill>
              </a:rPr>
              <a:t>Share</a:t>
            </a:r>
            <a:endParaRPr lang="en-US" sz="1350" dirty="0"/>
          </a:p>
        </p:txBody>
      </p:sp>
      <p:sp>
        <p:nvSpPr>
          <p:cNvPr id="16" name="Text 14"/>
          <p:cNvSpPr/>
          <p:nvPr/>
        </p:nvSpPr>
        <p:spPr>
          <a:xfrm>
            <a:off x="4389120" y="2944368"/>
            <a:ext cx="6675120" cy="347472"/>
          </a:xfrm>
          <a:prstGeom prst="rect">
            <a:avLst/>
          </a:prstGeom>
          <a:noFill/>
          <a:ln/>
        </p:spPr>
        <p:txBody>
          <a:bodyPr wrap="square" lIns="0" tIns="0" rIns="0" bIns="0" rtlCol="0" anchor="ctr">
            <a:normAutofit/>
          </a:bodyPr>
          <a:lstStyle/>
          <a:p>
            <a:pPr indent="0" marL="0">
              <a:buNone/>
            </a:pPr>
            <a:r>
              <a:rPr lang="en-US" sz="1320" dirty="0">
                <a:solidFill>
                  <a:srgbClr val="21242A"/>
                </a:solidFill>
              </a:rPr>
              <a:t>Open sale, notification, PocketWiFiSale QR/link/sign copy.</a:t>
            </a:r>
            <a:endParaRPr lang="en-US" sz="1320" dirty="0"/>
          </a:p>
        </p:txBody>
      </p:sp>
      <p:sp>
        <p:nvSpPr>
          <p:cNvPr id="17" name="Text 15"/>
          <p:cNvSpPr/>
          <p:nvPr/>
        </p:nvSpPr>
        <p:spPr>
          <a:xfrm>
            <a:off x="640080" y="3602736"/>
            <a:ext cx="1371600" cy="274320"/>
          </a:xfrm>
          <a:prstGeom prst="rect">
            <a:avLst/>
          </a:prstGeom>
          <a:noFill/>
          <a:ln/>
        </p:spPr>
        <p:txBody>
          <a:bodyPr wrap="square" lIns="0" tIns="0" rIns="0" bIns="0" rtlCol="0" anchor="ctr">
            <a:normAutofit/>
          </a:bodyPr>
          <a:lstStyle/>
          <a:p>
            <a:pPr indent="0" marL="0">
              <a:buNone/>
            </a:pPr>
            <a:r>
              <a:rPr lang="en-US" sz="1350" b="1" dirty="0">
                <a:solidFill>
                  <a:srgbClr val="14365D"/>
                </a:solidFill>
              </a:rPr>
              <a:t>1:15–1:50</a:t>
            </a:r>
            <a:endParaRPr lang="en-US" sz="1350" dirty="0"/>
          </a:p>
        </p:txBody>
      </p:sp>
      <p:sp>
        <p:nvSpPr>
          <p:cNvPr id="18" name="Text 16"/>
          <p:cNvSpPr/>
          <p:nvPr/>
        </p:nvSpPr>
        <p:spPr>
          <a:xfrm>
            <a:off x="2377440" y="3602736"/>
            <a:ext cx="1554480" cy="274320"/>
          </a:xfrm>
          <a:prstGeom prst="rect">
            <a:avLst/>
          </a:prstGeom>
          <a:noFill/>
          <a:ln/>
        </p:spPr>
        <p:txBody>
          <a:bodyPr wrap="square" lIns="0" tIns="0" rIns="0" bIns="0" rtlCol="0" anchor="ctr">
            <a:normAutofit/>
          </a:bodyPr>
          <a:lstStyle/>
          <a:p>
            <a:pPr indent="0" marL="0">
              <a:buNone/>
            </a:pPr>
            <a:r>
              <a:rPr lang="en-US" sz="1350" b="1" dirty="0">
                <a:solidFill>
                  <a:srgbClr val="21242A"/>
                </a:solidFill>
              </a:rPr>
              <a:t>Visitor</a:t>
            </a:r>
            <a:endParaRPr lang="en-US" sz="1350" dirty="0"/>
          </a:p>
        </p:txBody>
      </p:sp>
      <p:sp>
        <p:nvSpPr>
          <p:cNvPr id="19" name="Text 17"/>
          <p:cNvSpPr/>
          <p:nvPr/>
        </p:nvSpPr>
        <p:spPr>
          <a:xfrm>
            <a:off x="4389120" y="3602736"/>
            <a:ext cx="6675120" cy="347472"/>
          </a:xfrm>
          <a:prstGeom prst="rect">
            <a:avLst/>
          </a:prstGeom>
          <a:noFill/>
          <a:ln/>
        </p:spPr>
        <p:txBody>
          <a:bodyPr wrap="square" lIns="0" tIns="0" rIns="0" bIns="0" rtlCol="0" anchor="ctr">
            <a:normAutofit/>
          </a:bodyPr>
          <a:lstStyle/>
          <a:p>
            <a:pPr indent="0" marL="0">
              <a:buNone/>
            </a:pPr>
            <a:r>
              <a:rPr lang="en-US" sz="1320" dirty="0">
                <a:solidFill>
                  <a:srgbClr val="21242A"/>
                </a:solidFill>
              </a:rPr>
              <a:t>Read-only catalog, browse, mark sold, auto-refresh.</a:t>
            </a:r>
            <a:endParaRPr lang="en-US" sz="1320" dirty="0"/>
          </a:p>
        </p:txBody>
      </p:sp>
      <p:sp>
        <p:nvSpPr>
          <p:cNvPr id="20" name="Text 18"/>
          <p:cNvSpPr/>
          <p:nvPr/>
        </p:nvSpPr>
        <p:spPr>
          <a:xfrm>
            <a:off x="640080" y="4261104"/>
            <a:ext cx="1371600" cy="274320"/>
          </a:xfrm>
          <a:prstGeom prst="rect">
            <a:avLst/>
          </a:prstGeom>
          <a:noFill/>
          <a:ln/>
        </p:spPr>
        <p:txBody>
          <a:bodyPr wrap="square" lIns="0" tIns="0" rIns="0" bIns="0" rtlCol="0" anchor="ctr">
            <a:normAutofit/>
          </a:bodyPr>
          <a:lstStyle/>
          <a:p>
            <a:pPr indent="0" marL="0">
              <a:buNone/>
            </a:pPr>
            <a:r>
              <a:rPr lang="en-US" sz="1350" b="1" dirty="0">
                <a:solidFill>
                  <a:srgbClr val="14365D"/>
                </a:solidFill>
              </a:rPr>
              <a:t>1:50–2:15</a:t>
            </a:r>
            <a:endParaRPr lang="en-US" sz="1350" dirty="0"/>
          </a:p>
        </p:txBody>
      </p:sp>
      <p:sp>
        <p:nvSpPr>
          <p:cNvPr id="21" name="Text 19"/>
          <p:cNvSpPr/>
          <p:nvPr/>
        </p:nvSpPr>
        <p:spPr>
          <a:xfrm>
            <a:off x="2377440" y="4261104"/>
            <a:ext cx="1554480" cy="274320"/>
          </a:xfrm>
          <a:prstGeom prst="rect">
            <a:avLst/>
          </a:prstGeom>
          <a:noFill/>
          <a:ln/>
        </p:spPr>
        <p:txBody>
          <a:bodyPr wrap="square" lIns="0" tIns="0" rIns="0" bIns="0" rtlCol="0" anchor="ctr">
            <a:normAutofit/>
          </a:bodyPr>
          <a:lstStyle/>
          <a:p>
            <a:pPr indent="0" marL="0">
              <a:buNone/>
            </a:pPr>
            <a:r>
              <a:rPr lang="en-US" sz="1350" b="1" dirty="0">
                <a:solidFill>
                  <a:srgbClr val="21242A"/>
                </a:solidFill>
              </a:rPr>
              <a:t>Stability</a:t>
            </a:r>
            <a:endParaRPr lang="en-US" sz="1350" dirty="0"/>
          </a:p>
        </p:txBody>
      </p:sp>
      <p:sp>
        <p:nvSpPr>
          <p:cNvPr id="22" name="Text 20"/>
          <p:cNvSpPr/>
          <p:nvPr/>
        </p:nvSpPr>
        <p:spPr>
          <a:xfrm>
            <a:off x="4389120" y="4261104"/>
            <a:ext cx="6675120" cy="347472"/>
          </a:xfrm>
          <a:prstGeom prst="rect">
            <a:avLst/>
          </a:prstGeom>
          <a:noFill/>
          <a:ln/>
        </p:spPr>
        <p:txBody>
          <a:bodyPr wrap="square" lIns="0" tIns="0" rIns="0" bIns="0" rtlCol="0" anchor="ctr">
            <a:normAutofit/>
          </a:bodyPr>
          <a:lstStyle/>
          <a:p>
            <a:pPr indent="0" marL="0">
              <a:buNone/>
            </a:pPr>
            <a:r>
              <a:rPr lang="en-US" sz="1320" dirty="0">
                <a:solidFill>
                  <a:srgbClr val="21242A"/>
                </a:solidFill>
              </a:rPr>
              <a:t>Switch apps; catalog remains live; close sale.</a:t>
            </a:r>
            <a:endParaRPr lang="en-US" sz="1320" dirty="0"/>
          </a:p>
        </p:txBody>
      </p:sp>
      <p:sp>
        <p:nvSpPr>
          <p:cNvPr id="23" name="Text 21"/>
          <p:cNvSpPr/>
          <p:nvPr/>
        </p:nvSpPr>
        <p:spPr>
          <a:xfrm>
            <a:off x="640080" y="4919472"/>
            <a:ext cx="1371600" cy="274320"/>
          </a:xfrm>
          <a:prstGeom prst="rect">
            <a:avLst/>
          </a:prstGeom>
          <a:noFill/>
          <a:ln/>
        </p:spPr>
        <p:txBody>
          <a:bodyPr wrap="square" lIns="0" tIns="0" rIns="0" bIns="0" rtlCol="0" anchor="ctr">
            <a:normAutofit/>
          </a:bodyPr>
          <a:lstStyle/>
          <a:p>
            <a:pPr indent="0" marL="0">
              <a:buNone/>
            </a:pPr>
            <a:r>
              <a:rPr lang="en-US" sz="1350" b="1" dirty="0">
                <a:solidFill>
                  <a:srgbClr val="14365D"/>
                </a:solidFill>
              </a:rPr>
              <a:t>2:15–2:30</a:t>
            </a:r>
            <a:endParaRPr lang="en-US" sz="1350" dirty="0"/>
          </a:p>
        </p:txBody>
      </p:sp>
      <p:sp>
        <p:nvSpPr>
          <p:cNvPr id="24" name="Text 22"/>
          <p:cNvSpPr/>
          <p:nvPr/>
        </p:nvSpPr>
        <p:spPr>
          <a:xfrm>
            <a:off x="2377440" y="4919472"/>
            <a:ext cx="1554480" cy="274320"/>
          </a:xfrm>
          <a:prstGeom prst="rect">
            <a:avLst/>
          </a:prstGeom>
          <a:noFill/>
          <a:ln/>
        </p:spPr>
        <p:txBody>
          <a:bodyPr wrap="square" lIns="0" tIns="0" rIns="0" bIns="0" rtlCol="0" anchor="ctr">
            <a:normAutofit/>
          </a:bodyPr>
          <a:lstStyle/>
          <a:p>
            <a:pPr indent="0" marL="0">
              <a:buNone/>
            </a:pPr>
            <a:r>
              <a:rPr lang="en-US" sz="1350" b="1" dirty="0">
                <a:solidFill>
                  <a:srgbClr val="21242A"/>
                </a:solidFill>
              </a:rPr>
              <a:t>Nuke</a:t>
            </a:r>
            <a:endParaRPr lang="en-US" sz="1350" dirty="0"/>
          </a:p>
        </p:txBody>
      </p:sp>
      <p:sp>
        <p:nvSpPr>
          <p:cNvPr id="25" name="Text 23"/>
          <p:cNvSpPr/>
          <p:nvPr/>
        </p:nvSpPr>
        <p:spPr>
          <a:xfrm>
            <a:off x="4389120" y="4919472"/>
            <a:ext cx="6675120" cy="347472"/>
          </a:xfrm>
          <a:prstGeom prst="rect">
            <a:avLst/>
          </a:prstGeom>
          <a:noFill/>
          <a:ln/>
        </p:spPr>
        <p:txBody>
          <a:bodyPr wrap="square" lIns="0" tIns="0" rIns="0" bIns="0" rtlCol="0" anchor="ctr">
            <a:normAutofit/>
          </a:bodyPr>
          <a:lstStyle/>
          <a:p>
            <a:pPr indent="0" marL="0">
              <a:buNone/>
            </a:pPr>
            <a:r>
              <a:rPr lang="en-US" sz="1320" dirty="0">
                <a:solidFill>
                  <a:srgbClr val="21242A"/>
                </a:solidFill>
              </a:rPr>
              <a:t>Delete all data; empty state; final thesis.</a:t>
            </a:r>
            <a:endParaRPr lang="en-US" sz="1320" dirty="0"/>
          </a:p>
        </p:txBody>
      </p:sp>
      <p:sp>
        <p:nvSpPr>
          <p:cNvPr id="26" name="Text 24"/>
          <p:cNvSpPr/>
          <p:nvPr/>
        </p:nvSpPr>
        <p:spPr>
          <a:xfrm>
            <a:off x="658368" y="5687568"/>
            <a:ext cx="1234440" cy="201168"/>
          </a:xfrm>
          <a:prstGeom prst="rect">
            <a:avLst/>
          </a:prstGeom>
          <a:noFill/>
          <a:ln/>
        </p:spPr>
        <p:txBody>
          <a:bodyPr wrap="square" lIns="0" tIns="0" rIns="0" bIns="0" rtlCol="0" anchor="ctr"/>
          <a:lstStyle/>
          <a:p>
            <a:pPr indent="0" marL="0">
              <a:buNone/>
            </a:pPr>
            <a:r>
              <a:rPr lang="en-US" sz="1000" b="1" dirty="0">
                <a:solidFill>
                  <a:srgbClr val="32628D"/>
                </a:solidFill>
              </a:rPr>
              <a:t>Recording setup</a:t>
            </a:r>
            <a:endParaRPr lang="en-US" sz="1000" dirty="0"/>
          </a:p>
        </p:txBody>
      </p:sp>
      <p:sp>
        <p:nvSpPr>
          <p:cNvPr id="27" name="Text 25"/>
          <p:cNvSpPr/>
          <p:nvPr/>
        </p:nvSpPr>
        <p:spPr>
          <a:xfrm>
            <a:off x="2331720" y="5678424"/>
            <a:ext cx="9006840" cy="256032"/>
          </a:xfrm>
          <a:prstGeom prst="rect">
            <a:avLst/>
          </a:prstGeom>
          <a:noFill/>
          <a:ln/>
        </p:spPr>
        <p:txBody>
          <a:bodyPr wrap="square" lIns="0" tIns="0" rIns="0" bIns="0" rtlCol="0" anchor="ctr">
            <a:normAutofit/>
          </a:bodyPr>
          <a:lstStyle/>
          <a:p>
            <a:pPr indent="0" marL="0">
              <a:buNone/>
            </a:pPr>
            <a:r>
              <a:rPr lang="en-US" sz="1200" dirty="0">
                <a:solidFill>
                  <a:srgbClr val="5B6470"/>
                </a:solidFill>
              </a:rPr>
              <a:t>Configure hotspot/guest network · connect both phones · grant notification permission · test QR/link once · say “browse,” not “filter”</a:t>
            </a:r>
            <a:endParaRPr lang="en-US" sz="1200" dirty="0"/>
          </a:p>
        </p:txBody>
      </p:sp>
      <p:sp>
        <p:nvSpPr>
          <p:cNvPr id="28" name="Text 26"/>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29" name="Text 27"/>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C"/>
        </a:solidFill>
      </p:bgPr>
    </p:bg>
    <p:spTree>
      <p:nvGrpSpPr>
        <p:cNvPr id="1" name=""/>
        <p:cNvGrpSpPr/>
        <p:nvPr/>
      </p:nvGrpSpPr>
      <p:grpSpPr>
        <a:xfrm>
          <a:off x="0" y="0"/>
          <a:ext cx="0" cy="0"/>
          <a:chOff x="0" y="0"/>
          <a:chExt cx="0" cy="0"/>
        </a:xfrm>
      </p:grpSpPr>
      <p:sp>
        <p:nvSpPr>
          <p:cNvPr id="2" name="Text 0"/>
          <p:cNvSpPr/>
          <p:nvPr/>
        </p:nvSpPr>
        <p:spPr>
          <a:xfrm>
            <a:off x="530352" y="310896"/>
            <a:ext cx="4389120" cy="228600"/>
          </a:xfrm>
          <a:prstGeom prst="rect">
            <a:avLst/>
          </a:prstGeom>
          <a:noFill/>
          <a:ln/>
        </p:spPr>
        <p:txBody>
          <a:bodyPr wrap="square" lIns="0" tIns="0" rIns="0" bIns="0" rtlCol="0" anchor="ctr"/>
          <a:lstStyle/>
          <a:p>
            <a:pPr indent="0" marL="0">
              <a:buNone/>
            </a:pPr>
            <a:r>
              <a:rPr lang="en-US" sz="850" b="1" dirty="0">
                <a:solidFill>
                  <a:srgbClr val="32628D"/>
                </a:solidFill>
                <a:latin typeface="Aptos" pitchFamily="34" charset="0"/>
                <a:ea typeface="Aptos" pitchFamily="34" charset="-122"/>
                <a:cs typeface="Aptos" pitchFamily="34" charset="-120"/>
              </a:rPr>
              <a:t>BUILD WEEK FRAMING</a:t>
            </a:r>
            <a:endParaRPr lang="en-US" sz="850" dirty="0"/>
          </a:p>
        </p:txBody>
      </p:sp>
      <p:sp>
        <p:nvSpPr>
          <p:cNvPr id="3" name="Text 1"/>
          <p:cNvSpPr/>
          <p:nvPr/>
        </p:nvSpPr>
        <p:spPr>
          <a:xfrm>
            <a:off x="530352" y="566928"/>
            <a:ext cx="6583680" cy="640080"/>
          </a:xfrm>
          <a:prstGeom prst="rect">
            <a:avLst/>
          </a:prstGeom>
          <a:noFill/>
          <a:ln/>
        </p:spPr>
        <p:txBody>
          <a:bodyPr wrap="square" lIns="254" tIns="254" rIns="254" bIns="254" rtlCol="0" anchor="ctr">
            <a:normAutofit/>
          </a:bodyPr>
          <a:lstStyle/>
          <a:p>
            <a:pPr indent="0" marL="0">
              <a:buNone/>
            </a:pPr>
            <a:r>
              <a:rPr lang="en-US" sz="3100" b="1" dirty="0">
                <a:solidFill>
                  <a:srgbClr val="14365D"/>
                </a:solidFill>
                <a:latin typeface="Aptos Display" pitchFamily="34" charset="0"/>
                <a:ea typeface="Aptos Display" pitchFamily="34" charset="-122"/>
                <a:cs typeface="Aptos Display" pitchFamily="34" charset="-120"/>
              </a:rPr>
              <a:t>Submission story</a:t>
            </a:r>
            <a:endParaRPr lang="en-US" sz="3100" dirty="0"/>
          </a:p>
        </p:txBody>
      </p:sp>
      <p:sp>
        <p:nvSpPr>
          <p:cNvPr id="4" name="Shape 2"/>
          <p:cNvSpPr/>
          <p:nvPr/>
        </p:nvSpPr>
        <p:spPr>
          <a:xfrm>
            <a:off x="530352" y="1298448"/>
            <a:ext cx="1051560" cy="0"/>
          </a:xfrm>
          <a:prstGeom prst="line">
            <a:avLst/>
          </a:prstGeom>
          <a:noFill/>
          <a:ln w="38100">
            <a:solidFill>
              <a:srgbClr val="F3B93C"/>
            </a:solidFill>
            <a:prstDash val="solid"/>
          </a:ln>
        </p:spPr>
      </p:sp>
      <p:pic>
        <p:nvPicPr>
          <p:cNvPr id="5" name="Image 0" descr="/mnt/data/preview_and_shop_with_pocket_site.png">    </p:cNvPr>
          <p:cNvPicPr>
            <a:picLocks noChangeAspect="1"/>
          </p:cNvPicPr>
          <p:nvPr/>
        </p:nvPicPr>
        <p:blipFill>
          <a:blip r:embed="rId1"/>
          <a:stretch>
            <a:fillRect/>
          </a:stretch>
        </p:blipFill>
        <p:spPr>
          <a:xfrm>
            <a:off x="7421665" y="1325880"/>
            <a:ext cx="3170349" cy="4480560"/>
          </a:xfrm>
          <a:prstGeom prst="rect">
            <a:avLst/>
          </a:prstGeom>
        </p:spPr>
      </p:pic>
      <p:sp>
        <p:nvSpPr>
          <p:cNvPr id="6" name="Text 3"/>
          <p:cNvSpPr/>
          <p:nvPr/>
        </p:nvSpPr>
        <p:spPr>
          <a:xfrm>
            <a:off x="658368" y="1591056"/>
            <a:ext cx="5212080" cy="365760"/>
          </a:xfrm>
          <a:prstGeom prst="rect">
            <a:avLst/>
          </a:prstGeom>
          <a:noFill/>
          <a:ln/>
        </p:spPr>
        <p:txBody>
          <a:bodyPr wrap="square" lIns="0" tIns="0" rIns="0" bIns="0" rtlCol="0" anchor="ctr"/>
          <a:lstStyle/>
          <a:p>
            <a:pPr indent="0" marL="0">
              <a:buNone/>
            </a:pPr>
            <a:r>
              <a:rPr lang="en-US" sz="2200" b="1" dirty="0">
                <a:solidFill>
                  <a:srgbClr val="14365D"/>
                </a:solidFill>
              </a:rPr>
              <a:t>What the judges should remember</a:t>
            </a:r>
            <a:endParaRPr lang="en-US" sz="2200" dirty="0"/>
          </a:p>
        </p:txBody>
      </p:sp>
      <p:sp>
        <p:nvSpPr>
          <p:cNvPr id="7" name="Text 4"/>
          <p:cNvSpPr/>
          <p:nvPr/>
        </p:nvSpPr>
        <p:spPr>
          <a:xfrm>
            <a:off x="713232" y="2240280"/>
            <a:ext cx="5349240" cy="1719072"/>
          </a:xfrm>
          <a:prstGeom prst="rect">
            <a:avLst/>
          </a:prstGeom>
          <a:noFill/>
          <a:ln/>
        </p:spPr>
        <p:txBody>
          <a:bodyPr wrap="square" lIns="635" tIns="635" rIns="635" bIns="635" rtlCol="0" anchor="t">
            <a:normAutofit/>
          </a:bodyPr>
          <a:lstStyle/>
          <a:p>
            <a:r>
              <a:rPr lang="en-US" sz="1600" dirty="0">
                <a:solidFill>
                  <a:srgbClr val="21242A"/>
                </a:solidFill>
                <a:latin typeface="Aptos" pitchFamily="34" charset="0"/>
                <a:ea typeface="Aptos" pitchFamily="34" charset="-122"/>
                <a:cs typeface="Aptos" pitchFamily="34" charset="-120"/>
              </a:rPr>
              <a:t>A green Android builder shipped a working real-world app with Codex</a:t>
            </a:r>
            <a:endParaRPr lang="en-US" sz="1600" dirty="0"/>
          </a:p>
          <a:p>
            <a:r>
              <a:rPr lang="en-US" sz="1600" dirty="0">
                <a:solidFill>
                  <a:srgbClr val="21242A"/>
                </a:solidFill>
                <a:latin typeface="Aptos" pitchFamily="34" charset="0"/>
                <a:ea typeface="Aptos" pitchFamily="34" charset="-122"/>
                <a:cs typeface="Aptos" pitchFamily="34" charset="-120"/>
              </a:rPr>
              <a:t>The app solves a concrete physical-life problem</a:t>
            </a:r>
            <a:endParaRPr lang="en-US" sz="1600" dirty="0"/>
          </a:p>
          <a:p>
            <a:r>
              <a:rPr lang="en-US" sz="1600" dirty="0">
                <a:solidFill>
                  <a:srgbClr val="21242A"/>
                </a:solidFill>
                <a:latin typeface="Aptos" pitchFamily="34" charset="0"/>
                <a:ea typeface="Aptos" pitchFamily="34" charset="-122"/>
                <a:cs typeface="Aptos" pitchFamily="34" charset="-120"/>
              </a:rPr>
              <a:t>It is intentionally temporary, local-first, and non-marketplace</a:t>
            </a:r>
            <a:endParaRPr lang="en-US" sz="1600" dirty="0"/>
          </a:p>
          <a:p>
            <a:r>
              <a:rPr lang="en-US" sz="1600" dirty="0">
                <a:solidFill>
                  <a:srgbClr val="21242A"/>
                </a:solidFill>
                <a:latin typeface="Aptos" pitchFamily="34" charset="0"/>
                <a:ea typeface="Aptos" pitchFamily="34" charset="-122"/>
                <a:cs typeface="Aptos" pitchFamily="34" charset="-120"/>
              </a:rPr>
              <a:t>The demo is understandable in one sentence</a:t>
            </a:r>
            <a:endParaRPr lang="en-US" sz="1600" dirty="0"/>
          </a:p>
        </p:txBody>
      </p:sp>
      <p:sp>
        <p:nvSpPr>
          <p:cNvPr id="8" name="Text 5"/>
          <p:cNvSpPr/>
          <p:nvPr/>
        </p:nvSpPr>
        <p:spPr>
          <a:xfrm>
            <a:off x="713232" y="4983480"/>
            <a:ext cx="1645920" cy="182880"/>
          </a:xfrm>
          <a:prstGeom prst="rect">
            <a:avLst/>
          </a:prstGeom>
          <a:noFill/>
          <a:ln/>
        </p:spPr>
        <p:txBody>
          <a:bodyPr wrap="square" lIns="0" tIns="0" rIns="0" bIns="0" rtlCol="0" anchor="ctr"/>
          <a:lstStyle/>
          <a:p>
            <a:pPr indent="0" marL="0">
              <a:buNone/>
            </a:pPr>
            <a:r>
              <a:rPr lang="en-US" sz="950" b="1" dirty="0">
                <a:solidFill>
                  <a:srgbClr val="32628D"/>
                </a:solidFill>
              </a:rPr>
              <a:t>One-sentence pitch</a:t>
            </a:r>
            <a:endParaRPr lang="en-US" sz="950" dirty="0"/>
          </a:p>
        </p:txBody>
      </p:sp>
      <p:sp>
        <p:nvSpPr>
          <p:cNvPr id="9" name="Text 6"/>
          <p:cNvSpPr/>
          <p:nvPr/>
        </p:nvSpPr>
        <p:spPr>
          <a:xfrm>
            <a:off x="713232" y="5266944"/>
            <a:ext cx="5440680" cy="502920"/>
          </a:xfrm>
          <a:prstGeom prst="rect">
            <a:avLst/>
          </a:prstGeom>
          <a:noFill/>
          <a:ln/>
        </p:spPr>
        <p:txBody>
          <a:bodyPr wrap="square" lIns="0" tIns="0" rIns="0" bIns="0" rtlCol="0" anchor="ctr">
            <a:normAutofit/>
          </a:bodyPr>
          <a:lstStyle/>
          <a:p>
            <a:pPr indent="0" marL="0">
              <a:buNone/>
            </a:pPr>
            <a:r>
              <a:rPr lang="en-US" sz="1750" b="1" i="1" dirty="0">
                <a:solidFill>
                  <a:srgbClr val="14365D"/>
                </a:solidFill>
              </a:rPr>
              <a:t>“A QR preview catalog for garage-sale signs, so passersby can decide whether to stop.”</a:t>
            </a:r>
            <a:endParaRPr lang="en-US" sz="1750" dirty="0"/>
          </a:p>
        </p:txBody>
      </p:sp>
      <p:sp>
        <p:nvSpPr>
          <p:cNvPr id="10" name="Text 7"/>
          <p:cNvSpPr/>
          <p:nvPr/>
        </p:nvSpPr>
        <p:spPr>
          <a:xfrm>
            <a:off x="530352" y="6510528"/>
            <a:ext cx="2011680" cy="164592"/>
          </a:xfrm>
          <a:prstGeom prst="rect">
            <a:avLst/>
          </a:prstGeom>
          <a:noFill/>
          <a:ln/>
        </p:spPr>
        <p:txBody>
          <a:bodyPr wrap="square" lIns="0" tIns="0" rIns="0" bIns="0" rtlCol="0" anchor="ctr"/>
          <a:lstStyle/>
          <a:p>
            <a:pPr indent="0" marL="0">
              <a:buNone/>
            </a:pPr>
            <a:r>
              <a:rPr lang="en-US" sz="850" b="1" dirty="0">
                <a:solidFill>
                  <a:srgbClr val="5B6470"/>
                </a:solidFill>
              </a:rPr>
              <a:t>Pocket Site</a:t>
            </a:r>
            <a:endParaRPr lang="en-US" sz="850" dirty="0"/>
          </a:p>
        </p:txBody>
      </p:sp>
      <p:sp>
        <p:nvSpPr>
          <p:cNvPr id="11" name="Text 8"/>
          <p:cNvSpPr/>
          <p:nvPr/>
        </p:nvSpPr>
        <p:spPr>
          <a:xfrm>
            <a:off x="7863840" y="6510528"/>
            <a:ext cx="3840480" cy="164592"/>
          </a:xfrm>
          <a:prstGeom prst="rect">
            <a:avLst/>
          </a:prstGeom>
          <a:noFill/>
          <a:ln/>
        </p:spPr>
        <p:txBody>
          <a:bodyPr wrap="square" lIns="0" tIns="0" rIns="0" bIns="0" rtlCol="0" anchor="ctr"/>
          <a:lstStyle/>
          <a:p>
            <a:pPr algn="r" indent="0" marL="0">
              <a:buNone/>
            </a:pPr>
            <a:r>
              <a:rPr lang="en-US" sz="800" dirty="0">
                <a:solidFill>
                  <a:srgbClr val="5B6470"/>
                </a:solidFill>
              </a:rPr>
              <a:t>scan the sign · browse the sale · stop when it matters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Pocket Site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Pocket Site Demo Script</dc:title>
  <dc:subject>Pocket Site demo voiceover deck</dc:subject>
  <dc:creator>OpenAI</dc:creator>
  <cp:lastModifiedBy>OpenAI</cp:lastModifiedBy>
  <cp:revision>1</cp:revision>
  <dcterms:created xsi:type="dcterms:W3CDTF">2026-07-19T03:58:44Z</dcterms:created>
  <dcterms:modified xsi:type="dcterms:W3CDTF">2026-07-19T03:58:44Z</dcterms:modified>
</cp:coreProperties>
</file>